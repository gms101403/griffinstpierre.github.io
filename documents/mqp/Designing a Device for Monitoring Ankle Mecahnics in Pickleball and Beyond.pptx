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5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</p:sldIdLst>
  <p:sldSz cx="12192000" cy="68580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nwBzodndHJhuwoq2OkK/OwJ6Ja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09098B-740B-3647-02AC-278B44F79AAF}" name="Durling, Julia" initials="JD" userId="S::jadurling@wpi.edu::b82e64b1-fa19-42b3-a5df-0639c68a41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E746E-14AE-4456-8081-DECA068417F2}" v="1069" dt="2026-04-23T19:50:16.253"/>
    <p1510:client id="{D31F2045-9FF4-44F0-8FAC-664827C25DFB}" v="507" dt="2026-04-23T19:22:03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275" autoAdjust="0"/>
  </p:normalViewPr>
  <p:slideViewPr>
    <p:cSldViewPr snapToGrid="0">
      <p:cViewPr>
        <p:scale>
          <a:sx n="86" d="100"/>
          <a:sy n="86" d="100"/>
        </p:scale>
        <p:origin x="-77" y="-557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customschemas.google.com/relationships/presentationmetadata" Target="metadata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Winthrop Golembewski</a:t>
            </a:r>
            <a:endParaRPr/>
          </a:p>
        </p:txBody>
      </p:sp>
      <p:sp>
        <p:nvSpPr>
          <p:cNvPr id="177" name="Google Shape;1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b1b498a0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4" name="Google Shape;184;g3cb1b498a0c_0_1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Lower extremity injuries: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Lunging and backpedaling can lead to ankle injuries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Unstable ankles can lead to falls which can lead to head injuries or upper extremity injuries</a:t>
            </a: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765% increase in hand, wrist, and finger injuries over the last decade, with over half of these cases occurring from fractures due to falling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Ankle dorsiflexion can determine if someone’s ankle is unstable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 lower extremity injury source which is why there needs to be a device to record kinematic data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g3cb1b498a0c_0_18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31e5d951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Google Shape;205;g3a31e5d951a_0_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3a31e5d951a_0_8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1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c97b47c7d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8" name="Google Shape;228;g3bc97b47c7d_4_2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Initially we had thought to use two IMUS, one at the heel and one at the shank, and use their change in angles </a:t>
            </a:r>
            <a:r>
              <a:rPr lang="en-US"/>
              <a:t>would calculate</a:t>
            </a:r>
            <a:r>
              <a:rPr lang="en-US" dirty="0"/>
              <a:t> loaded ankle dorsiflexion</a:t>
            </a:r>
            <a:endParaRPr dirty="0"/>
          </a:p>
        </p:txBody>
      </p:sp>
      <p:sp>
        <p:nvSpPr>
          <p:cNvPr id="229" name="Google Shape;229;g3bc97b47c7d_4_23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f6ac30de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Google Shape;239;g3af6ac30de1_0_3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Emphasize more on how and why we switched from 2 → 1 IMU </a:t>
            </a:r>
            <a:endParaRPr/>
          </a:p>
        </p:txBody>
      </p:sp>
      <p:sp>
        <p:nvSpPr>
          <p:cNvPr id="240" name="Google Shape;240;g3af6ac30de1_0_3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d96071cc1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3" name="Google Shape;253;g3cd96071cc1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Simplified </a:t>
            </a:r>
            <a:r>
              <a:rPr lang="en-US" dirty="0"/>
              <a:t>setup, one IMU setup </a:t>
            </a:r>
            <a:r>
              <a:rPr lang="en-US"/>
              <a:t>on </a:t>
            </a:r>
            <a:r>
              <a:rPr lang="en-US" dirty="0"/>
              <a:t>the shank, and MCU on the heel, and </a:t>
            </a:r>
            <a:r>
              <a:rPr lang="en-US"/>
              <a:t>the IMU takes</a:t>
            </a:r>
            <a:r>
              <a:rPr lang="en-US" dirty="0"/>
              <a:t> the measurement</a:t>
            </a:r>
            <a:endParaRPr dirty="0"/>
          </a:p>
        </p:txBody>
      </p:sp>
      <p:sp>
        <p:nvSpPr>
          <p:cNvPr id="254" name="Google Shape;254;g3cd96071cc1_3_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580b155b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7" name="Google Shape;267;g39580b155b8_1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g39580b155b8_1_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d4918c9b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3" name="Google Shape;293;g3cd4918c9bf_0_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g3cd4918c9bf_0_1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ad5981fa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9" name="Google Shape;319;g3cad5981fa5_0_1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g3cad5981fa5_0_135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ad5981fa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0" name="Google Shape;330;g3cad5981fa5_0_25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circles to highlight problematic areas</a:t>
            </a:r>
            <a:endParaRPr/>
          </a:p>
        </p:txBody>
      </p:sp>
      <p:sp>
        <p:nvSpPr>
          <p:cNvPr id="331" name="Google Shape;331;g3cad5981fa5_0_25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ad5981fa5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4" name="Google Shape;344;g3cad5981fa5_0_30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cad5981fa5_0_30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ad5981fa5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7" name="Google Shape;357;g3cad5981fa5_0_34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g3cad5981fa5_0_346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d0760cf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3" name="Google Shape;383;g3cd0760cfb2_0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g3cd0760cfb2_0_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c97b47c7d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Google Shape;409;g3bc97b47c7d_4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g3bc97b47c7d_4_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33efc144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3" name="Google Shape;423;g3c33efc1445_0_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Arrow explanation / purpose </a:t>
            </a:r>
            <a:endParaRPr/>
          </a:p>
        </p:txBody>
      </p:sp>
      <p:sp>
        <p:nvSpPr>
          <p:cNvPr id="424" name="Google Shape;424;g3c33efc1445_0_1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33efc1445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6" name="Google Shape;436;g3c33efc1445_0_8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Highlight changes made and express purpose </a:t>
            </a:r>
            <a:endParaRPr/>
          </a:p>
        </p:txBody>
      </p:sp>
      <p:sp>
        <p:nvSpPr>
          <p:cNvPr id="437" name="Google Shape;437;g3c33efc1445_0_87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f6ac30de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0" name="Google Shape;450;g3af6ac30de1_0_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image of the Matlab interface</a:t>
            </a:r>
            <a:endParaRPr/>
          </a:p>
        </p:txBody>
      </p:sp>
      <p:sp>
        <p:nvSpPr>
          <p:cNvPr id="451" name="Google Shape;451;g3af6ac30de1_0_2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2d94d9c1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6" name="Google Shape;466;g3c2d94d9c15_2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67" name="Google Shape;467;g3c2d94d9c15_2_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4d3f883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7" name="Google Shape;477;g3d4d3f88340_0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8" name="Google Shape;478;g3d4d3f88340_0_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cd4918c9bf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4" name="Google Shape;484;g3cd4918c9bf_1_1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g3cd4918c9bf_1_14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95a61684b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92" name="Google Shape;492;g395a61684b6_1_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difference between college aged men and college aged women appear to go away with age, mention this</a:t>
            </a:r>
            <a:endParaRPr/>
          </a:p>
        </p:txBody>
      </p:sp>
      <p:sp>
        <p:nvSpPr>
          <p:cNvPr id="493" name="Google Shape;493;g395a61684b6_1_2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4d3f8834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00" name="Google Shape;500;g3d4d3f88340_0_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that the design meets the initial criteria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/>
              <a:t>Go back to design requirements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/>
              <a:t>Can use device statically but not on the court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/>
              <a:t>Add bullet point to say that it can be applied to other sports</a:t>
            </a:r>
          </a:p>
        </p:txBody>
      </p:sp>
      <p:sp>
        <p:nvSpPr>
          <p:cNvPr id="501" name="Google Shape;501;g3d4d3f88340_0_9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4" name="Google Shape;514;p2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Thank advisor, subjects</a:t>
            </a:r>
            <a:endParaRPr/>
          </a:p>
        </p:txBody>
      </p:sp>
      <p:sp>
        <p:nvSpPr>
          <p:cNvPr id="515" name="Google Shape;515;p22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5"/>
          <p:cNvSpPr txBox="1">
            <a:spLocks noGrp="1"/>
          </p:cNvSpPr>
          <p:nvPr>
            <p:ph type="ctrTitle"/>
          </p:nvPr>
        </p:nvSpPr>
        <p:spPr>
          <a:xfrm>
            <a:off x="609600" y="2836309"/>
            <a:ext cx="9144000" cy="152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  <a:defRPr sz="4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subTitle" idx="1"/>
          </p:nvPr>
        </p:nvSpPr>
        <p:spPr>
          <a:xfrm>
            <a:off x="609600" y="4591957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7" name="Google Shape;17;p25" descr="A red letter w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2078" y="990600"/>
            <a:ext cx="339365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5" descr="A grey logo with tex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r="10769" b="12037"/>
          <a:stretch/>
        </p:blipFill>
        <p:spPr>
          <a:xfrm>
            <a:off x="8112370" y="2836309"/>
            <a:ext cx="4079630" cy="40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609600" y="1795464"/>
            <a:ext cx="3491097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>
            <a:spLocks noGrp="1"/>
          </p:cNvSpPr>
          <p:nvPr>
            <p:ph type="pic" idx="2"/>
          </p:nvPr>
        </p:nvSpPr>
        <p:spPr>
          <a:xfrm>
            <a:off x="4263325" y="1799550"/>
            <a:ext cx="3578225" cy="2012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30"/>
          <p:cNvSpPr>
            <a:spLocks noGrp="1"/>
          </p:cNvSpPr>
          <p:nvPr>
            <p:ph type="pic" idx="3"/>
          </p:nvPr>
        </p:nvSpPr>
        <p:spPr>
          <a:xfrm>
            <a:off x="4263322" y="3975484"/>
            <a:ext cx="3578225" cy="2012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oogle Shape;26;p30"/>
          <p:cNvSpPr>
            <a:spLocks noGrp="1"/>
          </p:cNvSpPr>
          <p:nvPr>
            <p:ph type="pic" idx="4"/>
          </p:nvPr>
        </p:nvSpPr>
        <p:spPr>
          <a:xfrm>
            <a:off x="8004175" y="1795464"/>
            <a:ext cx="3578225" cy="2012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Google Shape;27;p30"/>
          <p:cNvSpPr>
            <a:spLocks noGrp="1"/>
          </p:cNvSpPr>
          <p:nvPr>
            <p:ph type="pic" idx="5"/>
          </p:nvPr>
        </p:nvSpPr>
        <p:spPr>
          <a:xfrm>
            <a:off x="8004172" y="3971398"/>
            <a:ext cx="3578225" cy="2012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>
          <a:xfrm>
            <a:off x="8091303" y="1795464"/>
            <a:ext cx="3491097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>
            <a:spLocks noGrp="1"/>
          </p:cNvSpPr>
          <p:nvPr>
            <p:ph type="pic" idx="2"/>
          </p:nvPr>
        </p:nvSpPr>
        <p:spPr>
          <a:xfrm>
            <a:off x="609603" y="1799550"/>
            <a:ext cx="3578225" cy="2012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Google Shape;32;p32"/>
          <p:cNvSpPr>
            <a:spLocks noGrp="1"/>
          </p:cNvSpPr>
          <p:nvPr>
            <p:ph type="pic" idx="3"/>
          </p:nvPr>
        </p:nvSpPr>
        <p:spPr>
          <a:xfrm>
            <a:off x="609600" y="3975484"/>
            <a:ext cx="3578225" cy="2012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Google Shape;33;p32"/>
          <p:cNvSpPr>
            <a:spLocks noGrp="1"/>
          </p:cNvSpPr>
          <p:nvPr>
            <p:ph type="pic" idx="4"/>
          </p:nvPr>
        </p:nvSpPr>
        <p:spPr>
          <a:xfrm>
            <a:off x="4350453" y="1795464"/>
            <a:ext cx="3578225" cy="2012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Google Shape;34;p32"/>
          <p:cNvSpPr>
            <a:spLocks noGrp="1"/>
          </p:cNvSpPr>
          <p:nvPr>
            <p:ph type="pic" idx="5"/>
          </p:nvPr>
        </p:nvSpPr>
        <p:spPr>
          <a:xfrm>
            <a:off x="4350450" y="3971398"/>
            <a:ext cx="3578225" cy="2012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body" idx="1"/>
          </p:nvPr>
        </p:nvSpPr>
        <p:spPr>
          <a:xfrm>
            <a:off x="609597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body" idx="2"/>
          </p:nvPr>
        </p:nvSpPr>
        <p:spPr>
          <a:xfrm>
            <a:off x="4315769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body" idx="3"/>
          </p:nvPr>
        </p:nvSpPr>
        <p:spPr>
          <a:xfrm>
            <a:off x="8021939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>
            <a:spLocks noGrp="1"/>
          </p:cNvSpPr>
          <p:nvPr>
            <p:ph type="chart" idx="4"/>
          </p:nvPr>
        </p:nvSpPr>
        <p:spPr>
          <a:xfrm>
            <a:off x="609600" y="1798638"/>
            <a:ext cx="3560763" cy="355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R="0"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34"/>
          <p:cNvSpPr>
            <a:spLocks noGrp="1"/>
          </p:cNvSpPr>
          <p:nvPr>
            <p:ph type="chart" idx="5"/>
          </p:nvPr>
        </p:nvSpPr>
        <p:spPr>
          <a:xfrm>
            <a:off x="4315617" y="1798014"/>
            <a:ext cx="3560763" cy="355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R="0"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34"/>
          <p:cNvSpPr>
            <a:spLocks noGrp="1"/>
          </p:cNvSpPr>
          <p:nvPr>
            <p:ph type="chart" idx="6"/>
          </p:nvPr>
        </p:nvSpPr>
        <p:spPr>
          <a:xfrm>
            <a:off x="8021634" y="1798014"/>
            <a:ext cx="3560763" cy="355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R="0"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AB1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6"/>
          <p:cNvSpPr txBox="1">
            <a:spLocks noGrp="1"/>
          </p:cNvSpPr>
          <p:nvPr>
            <p:ph type="subTitle" idx="1"/>
          </p:nvPr>
        </p:nvSpPr>
        <p:spPr>
          <a:xfrm>
            <a:off x="609600" y="4024064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ctrTitle"/>
          </p:nvPr>
        </p:nvSpPr>
        <p:spPr>
          <a:xfrm>
            <a:off x="609600" y="2268416"/>
            <a:ext cx="9144000" cy="152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  <a:defRPr sz="4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/>
          <p:nvPr/>
        </p:nvSpPr>
        <p:spPr>
          <a:xfrm>
            <a:off x="-433137" y="436024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26" descr="A grey logo with text&#10;&#10;Description automatically generated"/>
          <p:cNvPicPr preferRelativeResize="0"/>
          <p:nvPr/>
        </p:nvPicPr>
        <p:blipFill rotWithShape="1">
          <a:blip r:embed="rId2">
            <a:alphaModFix amt="20000"/>
          </a:blip>
          <a:srcRect r="10769" b="12037"/>
          <a:stretch/>
        </p:blipFill>
        <p:spPr>
          <a:xfrm>
            <a:off x="8112370" y="2836309"/>
            <a:ext cx="4079630" cy="40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24" descr="A grey logo with text&#10;&#10;Description automatically generated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3810000" y="114300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body" idx="1"/>
          </p:nvPr>
        </p:nvSpPr>
        <p:spPr>
          <a:xfrm>
            <a:off x="609600" y="1527048"/>
            <a:ext cx="5283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body" idx="2"/>
          </p:nvPr>
        </p:nvSpPr>
        <p:spPr>
          <a:xfrm>
            <a:off x="6299202" y="1527048"/>
            <a:ext cx="5283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body" idx="1"/>
          </p:nvPr>
        </p:nvSpPr>
        <p:spPr>
          <a:xfrm>
            <a:off x="7441096" y="1795464"/>
            <a:ext cx="4141304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>
            <a:spLocks noGrp="1"/>
          </p:cNvSpPr>
          <p:nvPr>
            <p:ph type="pic" idx="2"/>
          </p:nvPr>
        </p:nvSpPr>
        <p:spPr>
          <a:xfrm>
            <a:off x="609600" y="1795463"/>
            <a:ext cx="6462712" cy="41894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3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>
            <a:spLocks noGrp="1"/>
          </p:cNvSpPr>
          <p:nvPr>
            <p:ph type="pic" idx="2"/>
          </p:nvPr>
        </p:nvSpPr>
        <p:spPr>
          <a:xfrm>
            <a:off x="609600" y="1798654"/>
            <a:ext cx="3560461" cy="355853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33"/>
          <p:cNvSpPr>
            <a:spLocks noGrp="1"/>
          </p:cNvSpPr>
          <p:nvPr>
            <p:ph type="pic" idx="3"/>
          </p:nvPr>
        </p:nvSpPr>
        <p:spPr>
          <a:xfrm>
            <a:off x="4315769" y="1798655"/>
            <a:ext cx="3560461" cy="355853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p33"/>
          <p:cNvSpPr>
            <a:spLocks noGrp="1"/>
          </p:cNvSpPr>
          <p:nvPr>
            <p:ph type="pic" idx="4"/>
          </p:nvPr>
        </p:nvSpPr>
        <p:spPr>
          <a:xfrm>
            <a:off x="8021940" y="1798655"/>
            <a:ext cx="3560461" cy="355853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>
            <a:off x="609597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/>
          <p:nvPr/>
        </p:nvSpPr>
        <p:spPr>
          <a:xfrm>
            <a:off x="5327374" y="53969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 txBox="1">
            <a:spLocks noGrp="1"/>
          </p:cNvSpPr>
          <p:nvPr>
            <p:ph type="body" idx="5"/>
          </p:nvPr>
        </p:nvSpPr>
        <p:spPr>
          <a:xfrm>
            <a:off x="4315769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6"/>
          </p:nvPr>
        </p:nvSpPr>
        <p:spPr>
          <a:xfrm>
            <a:off x="8021939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>
            <a:spLocks noGrp="1"/>
          </p:cNvSpPr>
          <p:nvPr>
            <p:ph type="pic" idx="2"/>
          </p:nvPr>
        </p:nvSpPr>
        <p:spPr>
          <a:xfrm>
            <a:off x="609600" y="1798655"/>
            <a:ext cx="3560461" cy="200966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Google Shape;77;p29"/>
          <p:cNvSpPr>
            <a:spLocks noGrp="1"/>
          </p:cNvSpPr>
          <p:nvPr>
            <p:ph type="pic" idx="3"/>
          </p:nvPr>
        </p:nvSpPr>
        <p:spPr>
          <a:xfrm>
            <a:off x="609599" y="3971259"/>
            <a:ext cx="3560461" cy="200966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Google Shape;78;p29"/>
          <p:cNvSpPr>
            <a:spLocks noGrp="1"/>
          </p:cNvSpPr>
          <p:nvPr>
            <p:ph type="pic" idx="4"/>
          </p:nvPr>
        </p:nvSpPr>
        <p:spPr>
          <a:xfrm>
            <a:off x="4315769" y="1798655"/>
            <a:ext cx="3560461" cy="200966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Google Shape;79;p29"/>
          <p:cNvSpPr>
            <a:spLocks noGrp="1"/>
          </p:cNvSpPr>
          <p:nvPr>
            <p:ph type="pic" idx="5"/>
          </p:nvPr>
        </p:nvSpPr>
        <p:spPr>
          <a:xfrm>
            <a:off x="4315768" y="3971259"/>
            <a:ext cx="3560461" cy="200966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Google Shape;80;p29"/>
          <p:cNvSpPr>
            <a:spLocks noGrp="1"/>
          </p:cNvSpPr>
          <p:nvPr>
            <p:ph type="pic" idx="6"/>
          </p:nvPr>
        </p:nvSpPr>
        <p:spPr>
          <a:xfrm>
            <a:off x="8021940" y="1798655"/>
            <a:ext cx="3560461" cy="200966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Google Shape;81;p29"/>
          <p:cNvSpPr>
            <a:spLocks noGrp="1"/>
          </p:cNvSpPr>
          <p:nvPr>
            <p:ph type="pic" idx="7"/>
          </p:nvPr>
        </p:nvSpPr>
        <p:spPr>
          <a:xfrm>
            <a:off x="8021939" y="3971259"/>
            <a:ext cx="3560461" cy="200966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5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6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6"/>
          <p:cNvSpPr txBox="1">
            <a:spLocks noGrp="1"/>
          </p:cNvSpPr>
          <p:nvPr>
            <p:ph type="body" idx="1"/>
          </p:nvPr>
        </p:nvSpPr>
        <p:spPr>
          <a:xfrm>
            <a:off x="609600" y="1795464"/>
            <a:ext cx="4141304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6"/>
          <p:cNvSpPr>
            <a:spLocks noGrp="1"/>
          </p:cNvSpPr>
          <p:nvPr>
            <p:ph type="chart" idx="2"/>
          </p:nvPr>
        </p:nvSpPr>
        <p:spPr>
          <a:xfrm>
            <a:off x="5119688" y="1795463"/>
            <a:ext cx="6462712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R="0"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8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8"/>
          <p:cNvSpPr txBox="1">
            <a:spLocks noGrp="1"/>
          </p:cNvSpPr>
          <p:nvPr>
            <p:ph type="body" idx="1"/>
          </p:nvPr>
        </p:nvSpPr>
        <p:spPr>
          <a:xfrm>
            <a:off x="609600" y="1795464"/>
            <a:ext cx="4141304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8"/>
          <p:cNvSpPr>
            <a:spLocks noGrp="1"/>
          </p:cNvSpPr>
          <p:nvPr>
            <p:ph type="pic" idx="2"/>
          </p:nvPr>
        </p:nvSpPr>
        <p:spPr>
          <a:xfrm>
            <a:off x="5119688" y="1795463"/>
            <a:ext cx="6462712" cy="41894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ad5981fa5_0_195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3cad5981fa5_0_195"/>
          <p:cNvSpPr txBox="1">
            <a:spLocks noGrp="1"/>
          </p:cNvSpPr>
          <p:nvPr>
            <p:ph type="body" idx="1"/>
          </p:nvPr>
        </p:nvSpPr>
        <p:spPr>
          <a:xfrm>
            <a:off x="8091303" y="1795464"/>
            <a:ext cx="3491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g3cad5981fa5_0_195"/>
          <p:cNvSpPr>
            <a:spLocks noGrp="1"/>
          </p:cNvSpPr>
          <p:nvPr>
            <p:ph type="pic" idx="2"/>
          </p:nvPr>
        </p:nvSpPr>
        <p:spPr>
          <a:xfrm>
            <a:off x="609603" y="1799550"/>
            <a:ext cx="3578100" cy="20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ogle Shape;101;g3cad5981fa5_0_195"/>
          <p:cNvSpPr>
            <a:spLocks noGrp="1"/>
          </p:cNvSpPr>
          <p:nvPr>
            <p:ph type="pic" idx="3"/>
          </p:nvPr>
        </p:nvSpPr>
        <p:spPr>
          <a:xfrm>
            <a:off x="609600" y="3975484"/>
            <a:ext cx="3578100" cy="20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Google Shape;102;g3cad5981fa5_0_195"/>
          <p:cNvSpPr>
            <a:spLocks noGrp="1"/>
          </p:cNvSpPr>
          <p:nvPr>
            <p:ph type="pic" idx="4"/>
          </p:nvPr>
        </p:nvSpPr>
        <p:spPr>
          <a:xfrm>
            <a:off x="4350453" y="1795464"/>
            <a:ext cx="3578100" cy="20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Google Shape;103;g3cad5981fa5_0_195"/>
          <p:cNvSpPr>
            <a:spLocks noGrp="1"/>
          </p:cNvSpPr>
          <p:nvPr>
            <p:ph type="pic" idx="5"/>
          </p:nvPr>
        </p:nvSpPr>
        <p:spPr>
          <a:xfrm>
            <a:off x="4350450" y="3971398"/>
            <a:ext cx="3578100" cy="20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ad5981fa5_0_171"/>
          <p:cNvSpPr txBox="1">
            <a:spLocks noGrp="1"/>
          </p:cNvSpPr>
          <p:nvPr>
            <p:ph type="ctrTitle"/>
          </p:nvPr>
        </p:nvSpPr>
        <p:spPr>
          <a:xfrm>
            <a:off x="609600" y="2836309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  <a:defRPr sz="4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3cad5981fa5_0_171"/>
          <p:cNvSpPr txBox="1">
            <a:spLocks noGrp="1"/>
          </p:cNvSpPr>
          <p:nvPr>
            <p:ph type="subTitle" idx="1"/>
          </p:nvPr>
        </p:nvSpPr>
        <p:spPr>
          <a:xfrm>
            <a:off x="609600" y="4591957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07" name="Google Shape;107;g3cad5981fa5_0_171" descr="A red letter w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2078" y="990600"/>
            <a:ext cx="3393649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cad5981fa5_0_171" descr="A grey logo with tex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r="10770" b="12034"/>
          <a:stretch/>
        </p:blipFill>
        <p:spPr>
          <a:xfrm>
            <a:off x="8112370" y="2836309"/>
            <a:ext cx="4079629" cy="40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ad5981fa5_0_176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ad5981fa5_0_178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cad5981fa5_0_178"/>
          <p:cNvSpPr txBox="1">
            <a:spLocks noGrp="1"/>
          </p:cNvSpPr>
          <p:nvPr>
            <p:ph type="body" idx="1"/>
          </p:nvPr>
        </p:nvSpPr>
        <p:spPr>
          <a:xfrm>
            <a:off x="609600" y="1527048"/>
            <a:ext cx="52833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4" name="Google Shape;114;g3cad5981fa5_0_178"/>
          <p:cNvSpPr txBox="1">
            <a:spLocks noGrp="1"/>
          </p:cNvSpPr>
          <p:nvPr>
            <p:ph type="body" idx="2"/>
          </p:nvPr>
        </p:nvSpPr>
        <p:spPr>
          <a:xfrm>
            <a:off x="6299202" y="1527048"/>
            <a:ext cx="52833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ad5981fa5_0_182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cad5981fa5_0_182"/>
          <p:cNvSpPr txBox="1">
            <a:spLocks noGrp="1"/>
          </p:cNvSpPr>
          <p:nvPr>
            <p:ph type="body" idx="1"/>
          </p:nvPr>
        </p:nvSpPr>
        <p:spPr>
          <a:xfrm>
            <a:off x="7441096" y="1795464"/>
            <a:ext cx="41412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g3cad5981fa5_0_182"/>
          <p:cNvSpPr>
            <a:spLocks noGrp="1"/>
          </p:cNvSpPr>
          <p:nvPr>
            <p:ph type="pic" idx="2"/>
          </p:nvPr>
        </p:nvSpPr>
        <p:spPr>
          <a:xfrm>
            <a:off x="609600" y="1795463"/>
            <a:ext cx="6462600" cy="418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ad5981fa5_0_186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cad5981fa5_0_186"/>
          <p:cNvSpPr txBox="1">
            <a:spLocks noGrp="1"/>
          </p:cNvSpPr>
          <p:nvPr>
            <p:ph type="body" idx="1"/>
          </p:nvPr>
        </p:nvSpPr>
        <p:spPr>
          <a:xfrm>
            <a:off x="609600" y="1795464"/>
            <a:ext cx="3491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g3cad5981fa5_0_186"/>
          <p:cNvSpPr>
            <a:spLocks noGrp="1"/>
          </p:cNvSpPr>
          <p:nvPr>
            <p:ph type="pic" idx="2"/>
          </p:nvPr>
        </p:nvSpPr>
        <p:spPr>
          <a:xfrm>
            <a:off x="4263325" y="1799550"/>
            <a:ext cx="3578100" cy="20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Google Shape;123;g3cad5981fa5_0_186"/>
          <p:cNvSpPr>
            <a:spLocks noGrp="1"/>
          </p:cNvSpPr>
          <p:nvPr>
            <p:ph type="pic" idx="3"/>
          </p:nvPr>
        </p:nvSpPr>
        <p:spPr>
          <a:xfrm>
            <a:off x="4263322" y="3975484"/>
            <a:ext cx="3578100" cy="20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Google Shape;124;g3cad5981fa5_0_186"/>
          <p:cNvSpPr>
            <a:spLocks noGrp="1"/>
          </p:cNvSpPr>
          <p:nvPr>
            <p:ph type="pic" idx="4"/>
          </p:nvPr>
        </p:nvSpPr>
        <p:spPr>
          <a:xfrm>
            <a:off x="8004175" y="1795464"/>
            <a:ext cx="3578100" cy="20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Google Shape;125;g3cad5981fa5_0_186"/>
          <p:cNvSpPr>
            <a:spLocks noGrp="1"/>
          </p:cNvSpPr>
          <p:nvPr>
            <p:ph type="pic" idx="5"/>
          </p:nvPr>
        </p:nvSpPr>
        <p:spPr>
          <a:xfrm>
            <a:off x="8004172" y="3971398"/>
            <a:ext cx="3578100" cy="20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ad5981fa5_0_1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ad5981fa5_0_202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3cad5981fa5_0_202"/>
          <p:cNvSpPr>
            <a:spLocks noGrp="1"/>
          </p:cNvSpPr>
          <p:nvPr>
            <p:ph type="pic" idx="2"/>
          </p:nvPr>
        </p:nvSpPr>
        <p:spPr>
          <a:xfrm>
            <a:off x="609600" y="1798654"/>
            <a:ext cx="3560400" cy="355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Google Shape;131;g3cad5981fa5_0_202"/>
          <p:cNvSpPr>
            <a:spLocks noGrp="1"/>
          </p:cNvSpPr>
          <p:nvPr>
            <p:ph type="pic" idx="3"/>
          </p:nvPr>
        </p:nvSpPr>
        <p:spPr>
          <a:xfrm>
            <a:off x="4315769" y="1798655"/>
            <a:ext cx="3560400" cy="355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Google Shape;132;g3cad5981fa5_0_202"/>
          <p:cNvSpPr>
            <a:spLocks noGrp="1"/>
          </p:cNvSpPr>
          <p:nvPr>
            <p:ph type="pic" idx="4"/>
          </p:nvPr>
        </p:nvSpPr>
        <p:spPr>
          <a:xfrm>
            <a:off x="8021940" y="1798655"/>
            <a:ext cx="3560400" cy="355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Google Shape;133;g3cad5981fa5_0_202"/>
          <p:cNvSpPr txBox="1">
            <a:spLocks noGrp="1"/>
          </p:cNvSpPr>
          <p:nvPr>
            <p:ph type="body" idx="1"/>
          </p:nvPr>
        </p:nvSpPr>
        <p:spPr>
          <a:xfrm>
            <a:off x="609597" y="5396947"/>
            <a:ext cx="35604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g3cad5981fa5_0_202"/>
          <p:cNvSpPr txBox="1"/>
          <p:nvPr/>
        </p:nvSpPr>
        <p:spPr>
          <a:xfrm>
            <a:off x="5327374" y="53969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cad5981fa5_0_202"/>
          <p:cNvSpPr txBox="1">
            <a:spLocks noGrp="1"/>
          </p:cNvSpPr>
          <p:nvPr>
            <p:ph type="body" idx="5"/>
          </p:nvPr>
        </p:nvSpPr>
        <p:spPr>
          <a:xfrm>
            <a:off x="4315769" y="5396947"/>
            <a:ext cx="35604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g3cad5981fa5_0_202"/>
          <p:cNvSpPr txBox="1">
            <a:spLocks noGrp="1"/>
          </p:cNvSpPr>
          <p:nvPr>
            <p:ph type="body" idx="6"/>
          </p:nvPr>
        </p:nvSpPr>
        <p:spPr>
          <a:xfrm>
            <a:off x="8021939" y="5396947"/>
            <a:ext cx="35604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ad5981fa5_0_211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cad5981fa5_0_211"/>
          <p:cNvSpPr txBox="1">
            <a:spLocks noGrp="1"/>
          </p:cNvSpPr>
          <p:nvPr>
            <p:ph type="body" idx="1"/>
          </p:nvPr>
        </p:nvSpPr>
        <p:spPr>
          <a:xfrm>
            <a:off x="609597" y="5396947"/>
            <a:ext cx="35604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g3cad5981fa5_0_211"/>
          <p:cNvSpPr txBox="1">
            <a:spLocks noGrp="1"/>
          </p:cNvSpPr>
          <p:nvPr>
            <p:ph type="body" idx="2"/>
          </p:nvPr>
        </p:nvSpPr>
        <p:spPr>
          <a:xfrm>
            <a:off x="4315769" y="5396947"/>
            <a:ext cx="35604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g3cad5981fa5_0_211"/>
          <p:cNvSpPr txBox="1">
            <a:spLocks noGrp="1"/>
          </p:cNvSpPr>
          <p:nvPr>
            <p:ph type="body" idx="3"/>
          </p:nvPr>
        </p:nvSpPr>
        <p:spPr>
          <a:xfrm>
            <a:off x="8021939" y="5396947"/>
            <a:ext cx="35604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g3cad5981fa5_0_211"/>
          <p:cNvSpPr>
            <a:spLocks noGrp="1"/>
          </p:cNvSpPr>
          <p:nvPr>
            <p:ph type="chart" idx="4"/>
          </p:nvPr>
        </p:nvSpPr>
        <p:spPr>
          <a:xfrm>
            <a:off x="609600" y="1798638"/>
            <a:ext cx="3560700" cy="3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g3cad5981fa5_0_211"/>
          <p:cNvSpPr>
            <a:spLocks noGrp="1"/>
          </p:cNvSpPr>
          <p:nvPr>
            <p:ph type="chart" idx="5"/>
          </p:nvPr>
        </p:nvSpPr>
        <p:spPr>
          <a:xfrm>
            <a:off x="4315617" y="1798014"/>
            <a:ext cx="3560700" cy="3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g3cad5981fa5_0_211"/>
          <p:cNvSpPr>
            <a:spLocks noGrp="1"/>
          </p:cNvSpPr>
          <p:nvPr>
            <p:ph type="chart" idx="6"/>
          </p:nvPr>
        </p:nvSpPr>
        <p:spPr>
          <a:xfrm>
            <a:off x="8021634" y="1798014"/>
            <a:ext cx="3560700" cy="3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ad5981fa5_0_2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cad5981fa5_0_219" descr="A grey logo with text&#10;&#10;Description automatically generated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3810000" y="114300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ad5981fa5_0_222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g3cad5981fa5_0_222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ad5981fa5_0_22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AB1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cad5981fa5_0_225"/>
          <p:cNvSpPr txBox="1">
            <a:spLocks noGrp="1"/>
          </p:cNvSpPr>
          <p:nvPr>
            <p:ph type="subTitle" idx="1"/>
          </p:nvPr>
        </p:nvSpPr>
        <p:spPr>
          <a:xfrm>
            <a:off x="609600" y="4024064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g3cad5981fa5_0_225"/>
          <p:cNvSpPr txBox="1">
            <a:spLocks noGrp="1"/>
          </p:cNvSpPr>
          <p:nvPr>
            <p:ph type="ctrTitle"/>
          </p:nvPr>
        </p:nvSpPr>
        <p:spPr>
          <a:xfrm>
            <a:off x="609600" y="2268416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  <a:defRPr sz="4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cad5981fa5_0_225"/>
          <p:cNvSpPr txBox="1"/>
          <p:nvPr/>
        </p:nvSpPr>
        <p:spPr>
          <a:xfrm>
            <a:off x="-433137" y="436024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cad5981fa5_0_225" descr="A grey logo with text&#10;&#10;Description automatically generated"/>
          <p:cNvPicPr preferRelativeResize="0"/>
          <p:nvPr/>
        </p:nvPicPr>
        <p:blipFill rotWithShape="1">
          <a:blip r:embed="rId2">
            <a:alphaModFix amt="20000"/>
          </a:blip>
          <a:srcRect r="10770" b="12034"/>
          <a:stretch/>
        </p:blipFill>
        <p:spPr>
          <a:xfrm>
            <a:off x="8112370" y="2836309"/>
            <a:ext cx="4079629" cy="40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ad5981fa5_0_231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cad5981fa5_0_231"/>
          <p:cNvSpPr>
            <a:spLocks noGrp="1"/>
          </p:cNvSpPr>
          <p:nvPr>
            <p:ph type="pic" idx="2"/>
          </p:nvPr>
        </p:nvSpPr>
        <p:spPr>
          <a:xfrm>
            <a:off x="609600" y="1798655"/>
            <a:ext cx="3560400" cy="200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Google Shape;160;g3cad5981fa5_0_231"/>
          <p:cNvSpPr>
            <a:spLocks noGrp="1"/>
          </p:cNvSpPr>
          <p:nvPr>
            <p:ph type="pic" idx="3"/>
          </p:nvPr>
        </p:nvSpPr>
        <p:spPr>
          <a:xfrm>
            <a:off x="609599" y="3971259"/>
            <a:ext cx="3560400" cy="200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Google Shape;161;g3cad5981fa5_0_231"/>
          <p:cNvSpPr>
            <a:spLocks noGrp="1"/>
          </p:cNvSpPr>
          <p:nvPr>
            <p:ph type="pic" idx="4"/>
          </p:nvPr>
        </p:nvSpPr>
        <p:spPr>
          <a:xfrm>
            <a:off x="4315769" y="1798655"/>
            <a:ext cx="3560400" cy="200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Google Shape;162;g3cad5981fa5_0_231"/>
          <p:cNvSpPr>
            <a:spLocks noGrp="1"/>
          </p:cNvSpPr>
          <p:nvPr>
            <p:ph type="pic" idx="5"/>
          </p:nvPr>
        </p:nvSpPr>
        <p:spPr>
          <a:xfrm>
            <a:off x="4315768" y="3971259"/>
            <a:ext cx="3560400" cy="200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Google Shape;163;g3cad5981fa5_0_231"/>
          <p:cNvSpPr>
            <a:spLocks noGrp="1"/>
          </p:cNvSpPr>
          <p:nvPr>
            <p:ph type="pic" idx="6"/>
          </p:nvPr>
        </p:nvSpPr>
        <p:spPr>
          <a:xfrm>
            <a:off x="8021940" y="1798655"/>
            <a:ext cx="3560400" cy="200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Google Shape;164;g3cad5981fa5_0_231"/>
          <p:cNvSpPr>
            <a:spLocks noGrp="1"/>
          </p:cNvSpPr>
          <p:nvPr>
            <p:ph type="pic" idx="7"/>
          </p:nvPr>
        </p:nvSpPr>
        <p:spPr>
          <a:xfrm>
            <a:off x="8021939" y="3971259"/>
            <a:ext cx="3560400" cy="200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ad5981fa5_0_239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ad5981fa5_0_241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g3cad5981fa5_0_241"/>
          <p:cNvSpPr txBox="1">
            <a:spLocks noGrp="1"/>
          </p:cNvSpPr>
          <p:nvPr>
            <p:ph type="body" idx="1"/>
          </p:nvPr>
        </p:nvSpPr>
        <p:spPr>
          <a:xfrm>
            <a:off x="609600" y="1795464"/>
            <a:ext cx="41412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g3cad5981fa5_0_241"/>
          <p:cNvSpPr>
            <a:spLocks noGrp="1"/>
          </p:cNvSpPr>
          <p:nvPr>
            <p:ph type="chart" idx="2"/>
          </p:nvPr>
        </p:nvSpPr>
        <p:spPr>
          <a:xfrm>
            <a:off x="5119688" y="1795463"/>
            <a:ext cx="64626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ad5981fa5_0_245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g3cad5981fa5_0_245"/>
          <p:cNvSpPr txBox="1">
            <a:spLocks noGrp="1"/>
          </p:cNvSpPr>
          <p:nvPr>
            <p:ph type="body" idx="1"/>
          </p:nvPr>
        </p:nvSpPr>
        <p:spPr>
          <a:xfrm>
            <a:off x="609600" y="1795464"/>
            <a:ext cx="41412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g3cad5981fa5_0_245"/>
          <p:cNvSpPr>
            <a:spLocks noGrp="1"/>
          </p:cNvSpPr>
          <p:nvPr>
            <p:ph type="pic" idx="2"/>
          </p:nvPr>
        </p:nvSpPr>
        <p:spPr>
          <a:xfrm>
            <a:off x="5119688" y="1795463"/>
            <a:ext cx="6462600" cy="418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810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/>
          <p:nvPr/>
        </p:nvSpPr>
        <p:spPr>
          <a:xfrm>
            <a:off x="609600" y="1234967"/>
            <a:ext cx="11582400" cy="45719"/>
          </a:xfrm>
          <a:prstGeom prst="rect">
            <a:avLst/>
          </a:prstGeom>
          <a:solidFill>
            <a:srgbClr val="AB1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3" descr="A red letter w on a black background&#10;&#10;Description automatically generated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474628" y="6237513"/>
            <a:ext cx="1131217" cy="36576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d5981fa5_0_166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g3cad5981fa5_0_166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810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g3cad5981fa5_0_166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rgbClr val="AB1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cad5981fa5_0_166" descr="A red letter w on a black background&#10;&#10;Description automatically generated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474628" y="6237513"/>
            <a:ext cx="1131216" cy="36576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"/>
          <p:cNvSpPr txBox="1">
            <a:spLocks noGrp="1"/>
          </p:cNvSpPr>
          <p:nvPr>
            <p:ph type="ctrTitle"/>
          </p:nvPr>
        </p:nvSpPr>
        <p:spPr>
          <a:xfrm>
            <a:off x="1524000" y="2638134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 Device for Monitoring Ankle Mechanics in Pickleball and Beyond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"/>
          <p:cNvSpPr txBox="1">
            <a:spLocks noGrp="1"/>
          </p:cNvSpPr>
          <p:nvPr>
            <p:ph type="subTitle" idx="1"/>
          </p:nvPr>
        </p:nvSpPr>
        <p:spPr>
          <a:xfrm>
            <a:off x="1524000" y="4604095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Julia Durling, Win Golembewski, Aditi Kulkarni, Griffin St. Pierre, Reid Vacharakupt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Advisor: Professor Songbai Ji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"/>
          <p:cNvSpPr txBox="1"/>
          <p:nvPr/>
        </p:nvSpPr>
        <p:spPr>
          <a:xfrm>
            <a:off x="4348480" y="60655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b1b498a0c_0_18"/>
          <p:cNvSpPr txBox="1">
            <a:spLocks noGrp="1"/>
          </p:cNvSpPr>
          <p:nvPr>
            <p:ph type="title"/>
          </p:nvPr>
        </p:nvSpPr>
        <p:spPr>
          <a:xfrm>
            <a:off x="620827" y="57912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Pickleball - Introduction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cb1b498a0c_0_18" descr="Tennis racket and ball"/>
          <p:cNvPicPr preferRelativeResize="0"/>
          <p:nvPr/>
        </p:nvPicPr>
        <p:blipFill rotWithShape="1">
          <a:blip r:embed="rId3">
            <a:alphaModFix/>
          </a:blip>
          <a:srcRect l="12289" r="20960"/>
          <a:stretch/>
        </p:blipFill>
        <p:spPr>
          <a:xfrm>
            <a:off x="620827" y="2915127"/>
            <a:ext cx="1712229" cy="17122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89" name="Google Shape;189;g3cb1b498a0c_0_18" descr="Badminton rackets and shuttlecocks"/>
          <p:cNvPicPr preferRelativeResize="0"/>
          <p:nvPr/>
        </p:nvPicPr>
        <p:blipFill rotWithShape="1">
          <a:blip r:embed="rId4">
            <a:alphaModFix/>
          </a:blip>
          <a:srcRect l="13335" r="27581"/>
          <a:stretch/>
        </p:blipFill>
        <p:spPr>
          <a:xfrm rot="5562475">
            <a:off x="994840" y="1931314"/>
            <a:ext cx="959644" cy="1084184"/>
          </a:xfrm>
          <a:custGeom>
            <a:avLst/>
            <a:gdLst/>
            <a:ahLst/>
            <a:cxnLst/>
            <a:rect l="l" t="t" r="r" b="b"/>
            <a:pathLst>
              <a:path w="2590737" h="2926956" extrusionOk="0">
                <a:moveTo>
                  <a:pt x="1463478" y="0"/>
                </a:moveTo>
                <a:cubicBezTo>
                  <a:pt x="1867606" y="0"/>
                  <a:pt x="2233476" y="163805"/>
                  <a:pt x="2498313" y="428643"/>
                </a:cubicBezTo>
                <a:lnTo>
                  <a:pt x="2501029" y="431631"/>
                </a:lnTo>
                <a:lnTo>
                  <a:pt x="2445696" y="582811"/>
                </a:lnTo>
                <a:cubicBezTo>
                  <a:pt x="2374039" y="813196"/>
                  <a:pt x="2335437" y="1058145"/>
                  <a:pt x="2335437" y="1312109"/>
                </a:cubicBezTo>
                <a:cubicBezTo>
                  <a:pt x="2335437" y="1650728"/>
                  <a:pt x="2404063" y="1973319"/>
                  <a:pt x="2528166" y="2266732"/>
                </a:cubicBezTo>
                <a:lnTo>
                  <a:pt x="2590737" y="2396622"/>
                </a:lnTo>
                <a:lnTo>
                  <a:pt x="2498313" y="2498313"/>
                </a:lnTo>
                <a:cubicBezTo>
                  <a:pt x="2233476" y="2763151"/>
                  <a:pt x="1867606" y="2926956"/>
                  <a:pt x="1463478" y="2926956"/>
                </a:cubicBezTo>
                <a:cubicBezTo>
                  <a:pt x="655221" y="2926956"/>
                  <a:pt x="0" y="2271735"/>
                  <a:pt x="0" y="1463478"/>
                </a:cubicBezTo>
                <a:cubicBezTo>
                  <a:pt x="0" y="655221"/>
                  <a:pt x="655221" y="0"/>
                  <a:pt x="146347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90" name="Google Shape;190;g3cb1b498a0c_0_18" descr="Ping pong bat and ball on table"/>
          <p:cNvPicPr preferRelativeResize="0"/>
          <p:nvPr/>
        </p:nvPicPr>
        <p:blipFill rotWithShape="1">
          <a:blip r:embed="rId5">
            <a:alphaModFix/>
          </a:blip>
          <a:srcRect l="33374" r="7837"/>
          <a:stretch/>
        </p:blipFill>
        <p:spPr>
          <a:xfrm rot="5237525">
            <a:off x="997291" y="4528745"/>
            <a:ext cx="954863" cy="1084184"/>
          </a:xfrm>
          <a:custGeom>
            <a:avLst/>
            <a:gdLst/>
            <a:ahLst/>
            <a:cxnLst/>
            <a:rect l="l" t="t" r="r" b="b"/>
            <a:pathLst>
              <a:path w="2577829" h="2926956" extrusionOk="0">
                <a:moveTo>
                  <a:pt x="1114351" y="0"/>
                </a:moveTo>
                <a:cubicBezTo>
                  <a:pt x="1922608" y="0"/>
                  <a:pt x="2577829" y="655221"/>
                  <a:pt x="2577829" y="1463478"/>
                </a:cubicBezTo>
                <a:cubicBezTo>
                  <a:pt x="2577829" y="2271735"/>
                  <a:pt x="1922608" y="2926956"/>
                  <a:pt x="1114351" y="2926956"/>
                </a:cubicBezTo>
                <a:cubicBezTo>
                  <a:pt x="710223" y="2926956"/>
                  <a:pt x="344353" y="2763151"/>
                  <a:pt x="79516" y="2498313"/>
                </a:cubicBezTo>
                <a:lnTo>
                  <a:pt x="0" y="2410824"/>
                </a:lnTo>
                <a:lnTo>
                  <a:pt x="69413" y="2266732"/>
                </a:lnTo>
                <a:cubicBezTo>
                  <a:pt x="193516" y="1973319"/>
                  <a:pt x="262142" y="1650728"/>
                  <a:pt x="262142" y="1312109"/>
                </a:cubicBezTo>
                <a:cubicBezTo>
                  <a:pt x="262142" y="1058145"/>
                  <a:pt x="223540" y="813196"/>
                  <a:pt x="151883" y="582811"/>
                </a:cubicBezTo>
                <a:lnTo>
                  <a:pt x="91478" y="417771"/>
                </a:lnTo>
                <a:lnTo>
                  <a:pt x="183443" y="334187"/>
                </a:lnTo>
                <a:cubicBezTo>
                  <a:pt x="436418" y="125413"/>
                  <a:pt x="760739" y="0"/>
                  <a:pt x="111435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91" name="Google Shape;191;g3cb1b498a0c_0_18"/>
          <p:cNvSpPr/>
          <p:nvPr/>
        </p:nvSpPr>
        <p:spPr>
          <a:xfrm>
            <a:off x="2291067" y="2564170"/>
            <a:ext cx="590700" cy="25050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cb1b498a0c_0_18" descr="Outdoor workout abstract concept vector illustration. (Provided by Getty Images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93721" y="2733019"/>
            <a:ext cx="2074860" cy="2075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cb1b498a0c_0_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26571" y="4702966"/>
            <a:ext cx="2074800" cy="165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94" name="Google Shape;194;g3cb1b498a0c_0_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11952" y="1379227"/>
            <a:ext cx="2438400" cy="150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95" name="Google Shape;195;g3cb1b498a0c_0_18"/>
          <p:cNvSpPr/>
          <p:nvPr/>
        </p:nvSpPr>
        <p:spPr>
          <a:xfrm>
            <a:off x="5697760" y="1727167"/>
            <a:ext cx="397200" cy="41790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cb1b498a0c_0_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49279" y="3326998"/>
            <a:ext cx="2307300" cy="1540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97" name="Google Shape;197;g3cb1b498a0c_0_18"/>
          <p:cNvSpPr/>
          <p:nvPr/>
        </p:nvSpPr>
        <p:spPr>
          <a:xfrm>
            <a:off x="8910921" y="2623879"/>
            <a:ext cx="318600" cy="23856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cb1b498a0c_0_18"/>
          <p:cNvSpPr/>
          <p:nvPr/>
        </p:nvSpPr>
        <p:spPr>
          <a:xfrm>
            <a:off x="9344875" y="4630113"/>
            <a:ext cx="1900500" cy="664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Ankle Loaded Dorsiflexion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3cb1b498a0c_0_18"/>
          <p:cNvSpPr txBox="1"/>
          <p:nvPr/>
        </p:nvSpPr>
        <p:spPr>
          <a:xfrm>
            <a:off x="-1" y="6490350"/>
            <a:ext cx="12192001" cy="533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850" tIns="111850" rIns="111850" bIns="111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Ahn et al. 2025; 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Casper et al., 2023;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Cerezuela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J.-L.,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Firouzbakht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al, 2025; 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Lirola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M.-J., &amp; Cangas, A. J., 2023; 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Denning et al., 2022;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Lauxtermann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L., &amp; Stubbs, B., 2025;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Ryan et al. 2019; UBS 2023;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Zaifman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al. 2025</a:t>
            </a:r>
            <a:endParaRPr sz="1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g3cb1b498a0c_0_18"/>
          <p:cNvSpPr/>
          <p:nvPr/>
        </p:nvSpPr>
        <p:spPr>
          <a:xfrm>
            <a:off x="6283738" y="5066400"/>
            <a:ext cx="2438400" cy="1166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lang="en-US" sz="2200" b="1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g3cb1b498a0c_0_18"/>
          <p:cNvPicPr preferRelativeResize="0"/>
          <p:nvPr/>
        </p:nvPicPr>
        <p:blipFill rotWithShape="1">
          <a:blip r:embed="rId10">
            <a:alphaModFix/>
          </a:blip>
          <a:srcRect l="31300" t="33400" r="20715"/>
          <a:stretch/>
        </p:blipFill>
        <p:spPr>
          <a:xfrm>
            <a:off x="6905038" y="1467875"/>
            <a:ext cx="1195800" cy="165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202" name="Google Shape;202;g3cb1b498a0c_0_18"/>
          <p:cNvPicPr preferRelativeResize="0"/>
          <p:nvPr/>
        </p:nvPicPr>
        <p:blipFill rotWithShape="1">
          <a:blip r:embed="rId11">
            <a:alphaModFix/>
          </a:blip>
          <a:srcRect l="49073" t="56219" r="31634"/>
          <a:stretch/>
        </p:blipFill>
        <p:spPr>
          <a:xfrm>
            <a:off x="9439075" y="2339025"/>
            <a:ext cx="1712100" cy="2185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960889-1912-00B4-4939-DCB4E105AE5F}"/>
              </a:ext>
            </a:extLst>
          </p:cNvPr>
          <p:cNvSpPr txBox="1"/>
          <p:nvPr/>
        </p:nvSpPr>
        <p:spPr>
          <a:xfrm>
            <a:off x="6202631" y="5357212"/>
            <a:ext cx="2114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765% 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FC4A6120-B1D1-E23B-BCC9-9F6E9998BA4B}"/>
              </a:ext>
            </a:extLst>
          </p:cNvPr>
          <p:cNvSpPr/>
          <p:nvPr/>
        </p:nvSpPr>
        <p:spPr>
          <a:xfrm>
            <a:off x="7916845" y="5307167"/>
            <a:ext cx="399854" cy="684864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  <p:bldP spid="198" grpId="0" animBg="1"/>
      <p:bldP spid="200" grpId="0" animBg="1"/>
      <p:bldP spid="3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31e5d951a_0_8"/>
          <p:cNvSpPr txBox="1">
            <a:spLocks noGrp="1"/>
          </p:cNvSpPr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Arial"/>
              <a:buNone/>
            </a:pPr>
            <a:r>
              <a:rPr lang="en-US" sz="4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Statement</a:t>
            </a:r>
            <a:endParaRPr sz="4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g3a31e5d951a_0_8"/>
          <p:cNvSpPr txBox="1"/>
          <p:nvPr/>
        </p:nvSpPr>
        <p:spPr>
          <a:xfrm>
            <a:off x="647250" y="1494320"/>
            <a:ext cx="108975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5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non-invasive wearable device that provides useful kinematic data for pickleball players to help with injury prevention</a:t>
            </a:r>
            <a:endParaRPr sz="32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g3a31e5d951a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7325" y="3575053"/>
            <a:ext cx="5349150" cy="3173444"/>
          </a:xfrm>
          <a:prstGeom prst="roundRect">
            <a:avLst/>
          </a:prstGeom>
          <a:noFill/>
          <a:ln>
            <a:noFill/>
          </a:ln>
        </p:spPr>
      </p:pic>
      <p:pic>
        <p:nvPicPr>
          <p:cNvPr id="211" name="Google Shape;211;g3a31e5d951a_0_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525" y="3584325"/>
            <a:ext cx="5518774" cy="3154900"/>
          </a:xfrm>
          <a:prstGeom prst="round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 txBox="1"/>
          <p:nvPr/>
        </p:nvSpPr>
        <p:spPr>
          <a:xfrm>
            <a:off x="609600" y="2138775"/>
            <a:ext cx="3687000" cy="20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13642" marR="0" lvl="0" indent="-44651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tibia over ankle flexion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13642" marR="0" lvl="0" indent="-44651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Durable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13642" marR="0" lvl="0" indent="-44651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Comfortable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Requirements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8712848" y="2024475"/>
            <a:ext cx="3297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700" tIns="122700" rIns="122700" bIns="122700" anchor="t" anchorCtr="0">
            <a:spAutoFit/>
          </a:bodyPr>
          <a:lstStyle/>
          <a:p>
            <a:pPr marL="613642" marR="0" lvl="0" indent="-44651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latency 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13642" marR="0" lvl="0" indent="-44651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lasting battery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13642" marR="0" lvl="0" indent="-44651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streaming to phone/tablet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609601" y="1378575"/>
            <a:ext cx="36870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700" tIns="122700" rIns="122700" bIns="12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4"/>
              <a:buFont typeface="Arial"/>
              <a:buNone/>
            </a:pPr>
            <a:r>
              <a:rPr lang="en-US" sz="2684" b="1" dirty="0">
                <a:latin typeface="Times New Roman"/>
                <a:ea typeface="Times New Roman"/>
                <a:cs typeface="Times New Roman"/>
                <a:sym typeface="Times New Roman"/>
              </a:rPr>
              <a:t>Required</a:t>
            </a:r>
            <a:endParaRPr sz="2684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5315825" y="1378575"/>
            <a:ext cx="23778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700" tIns="122700" rIns="122700" bIns="12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4"/>
              <a:buFont typeface="Arial"/>
              <a:buNone/>
            </a:pPr>
            <a:r>
              <a:rPr lang="en-US" sz="2684" b="1" dirty="0">
                <a:latin typeface="Times New Roman"/>
                <a:ea typeface="Times New Roman"/>
                <a:cs typeface="Times New Roman"/>
                <a:sym typeface="Times New Roman"/>
              </a:rPr>
              <a:t>Preferred</a:t>
            </a:r>
            <a:endParaRPr sz="2684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8970401" y="1417275"/>
            <a:ext cx="27819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700" tIns="122700" rIns="122700" bIns="12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4"/>
              <a:buFont typeface="Arial"/>
              <a:buNone/>
            </a:pPr>
            <a:r>
              <a:rPr lang="en-US" sz="2684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Additions</a:t>
            </a:r>
            <a:endParaRPr sz="2684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Google Shape;223;p10" descr="Battery line icon. Power battery vector illustration isolated on white. Alkaline with bolt outline style design, designed for web and app. Eps 10. (Provided by Getty Images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4500" y="3779175"/>
            <a:ext cx="2266798" cy="22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4853550" y="2024475"/>
            <a:ext cx="3484500" cy="30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700" tIns="122700" rIns="122700" bIns="122700" anchor="t" anchorCtr="0">
            <a:noAutofit/>
          </a:bodyPr>
          <a:lstStyle/>
          <a:p>
            <a:pPr marL="6096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“multi-pod” setup 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Breathable skin contact straps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device buffer/reconnect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p10"/>
          <p:cNvPicPr preferRelativeResize="0"/>
          <p:nvPr/>
        </p:nvPicPr>
        <p:blipFill rotWithShape="1">
          <a:blip r:embed="rId4">
            <a:alphaModFix/>
          </a:blip>
          <a:srcRect l="29792" t="36870" r="32372" b="12198"/>
          <a:stretch/>
        </p:blipFill>
        <p:spPr>
          <a:xfrm>
            <a:off x="723900" y="3903850"/>
            <a:ext cx="3224925" cy="2730851"/>
          </a:xfrm>
          <a:prstGeom prst="round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/>
      <p:bldP spid="2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c97b47c7d_4_23"/>
          <p:cNvSpPr txBox="1">
            <a:spLocks noGrp="1"/>
          </p:cNvSpPr>
          <p:nvPr>
            <p:ph type="title"/>
          </p:nvPr>
        </p:nvSpPr>
        <p:spPr>
          <a:xfrm>
            <a:off x="609600" y="599476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Potential 2 - IMU System Setup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g3bc97b47c7d_4_23"/>
          <p:cNvSpPr txBox="1"/>
          <p:nvPr/>
        </p:nvSpPr>
        <p:spPr>
          <a:xfrm>
            <a:off x="1133407" y="6150000"/>
            <a:ext cx="175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View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g3bc97b47c7d_4_23"/>
          <p:cNvSpPr txBox="1"/>
          <p:nvPr/>
        </p:nvSpPr>
        <p:spPr>
          <a:xfrm>
            <a:off x="4791132" y="6150000"/>
            <a:ext cx="175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 View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g3bc97b47c7d_4_23"/>
          <p:cNvSpPr/>
          <p:nvPr/>
        </p:nvSpPr>
        <p:spPr>
          <a:xfrm>
            <a:off x="10408225" y="6172200"/>
            <a:ext cx="1327800" cy="50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bc97b47c7d_4_23"/>
          <p:cNvSpPr txBox="1"/>
          <p:nvPr/>
        </p:nvSpPr>
        <p:spPr>
          <a:xfrm>
            <a:off x="7953782" y="6150000"/>
            <a:ext cx="3954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 View - Angle Change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g3bc97b47c7d_4_23"/>
          <p:cNvPicPr preferRelativeResize="0"/>
          <p:nvPr/>
        </p:nvPicPr>
        <p:blipFill rotWithShape="1">
          <a:blip r:embed="rId3">
            <a:alphaModFix/>
          </a:blip>
          <a:srcRect l="4693" t="5225" r="2749" b="10501"/>
          <a:stretch/>
        </p:blipFill>
        <p:spPr>
          <a:xfrm>
            <a:off x="1229550" y="1334900"/>
            <a:ext cx="10194400" cy="4923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263;g3cd96071cc1_3_0">
            <a:extLst>
              <a:ext uri="{FF2B5EF4-FFF2-40B4-BE49-F238E27FC236}">
                <a16:creationId xmlns:a16="http://schemas.microsoft.com/office/drawing/2014/main" id="{E9E4C686-1DB8-4CD6-8EAB-D301D9B854FC}"/>
              </a:ext>
            </a:extLst>
          </p:cNvPr>
          <p:cNvCxnSpPr>
            <a:cxnSpLocks/>
          </p:cNvCxnSpPr>
          <p:nvPr/>
        </p:nvCxnSpPr>
        <p:spPr>
          <a:xfrm flipH="1" flipV="1">
            <a:off x="11221278" y="4979504"/>
            <a:ext cx="854765" cy="198783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f6ac30de1_0_30"/>
          <p:cNvSpPr txBox="1">
            <a:spLocks noGrp="1"/>
          </p:cNvSpPr>
          <p:nvPr>
            <p:ph type="title"/>
          </p:nvPr>
        </p:nvSpPr>
        <p:spPr>
          <a:xfrm>
            <a:off x="609600" y="583445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Sensor Progression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g3af6ac30de1_0_30"/>
          <p:cNvSpPr txBox="1">
            <a:spLocks noGrp="1"/>
          </p:cNvSpPr>
          <p:nvPr>
            <p:ph type="body" idx="1"/>
          </p:nvPr>
        </p:nvSpPr>
        <p:spPr>
          <a:xfrm>
            <a:off x="414713" y="2043200"/>
            <a:ext cx="3850800" cy="42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Chosen MCU: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HUZZAH ESP32 Feather for strong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multisensor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support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IMUs: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Two BNO085 units for absolute orientation needed for ankle biomechanics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u="sng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Could not detect IMUs on I²C despite correct wiring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showed BNO08x is unstable on ESP32 I²C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3af6ac30de1_0_30"/>
          <p:cNvSpPr>
            <a:spLocks noGrp="1"/>
          </p:cNvSpPr>
          <p:nvPr>
            <p:ph type="chart" idx="4"/>
          </p:nvPr>
        </p:nvSpPr>
        <p:spPr>
          <a:xfrm>
            <a:off x="609600" y="1524002"/>
            <a:ext cx="35607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Design</a:t>
            </a:r>
            <a:endParaRPr sz="2600" b="1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27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af6ac30de1_0_30"/>
          <p:cNvSpPr txBox="1">
            <a:spLocks noGrp="1"/>
          </p:cNvSpPr>
          <p:nvPr>
            <p:ph type="body" idx="2"/>
          </p:nvPr>
        </p:nvSpPr>
        <p:spPr>
          <a:xfrm>
            <a:off x="4572713" y="2043199"/>
            <a:ext cx="35604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Feather Sense: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Fully compatible with BNO08x family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Became the new microcontroller platform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imes New Roman"/>
              <a:buChar char="●"/>
            </a:pPr>
            <a:r>
              <a:rPr lang="en-US" sz="2000" b="1" u="sng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IMU address issues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solutions didn’t work with BNO085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g3af6ac30de1_0_30"/>
          <p:cNvSpPr>
            <a:spLocks noGrp="1"/>
          </p:cNvSpPr>
          <p:nvPr>
            <p:ph type="chart" idx="5"/>
          </p:nvPr>
        </p:nvSpPr>
        <p:spPr>
          <a:xfrm>
            <a:off x="4572663" y="1523991"/>
            <a:ext cx="35607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to Feather Sense </a:t>
            </a:r>
            <a:endParaRPr sz="2600" b="1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g3af6ac30de1_0_30"/>
          <p:cNvSpPr>
            <a:spLocks noGrp="1"/>
          </p:cNvSpPr>
          <p:nvPr>
            <p:ph type="chart" idx="6"/>
          </p:nvPr>
        </p:nvSpPr>
        <p:spPr>
          <a:xfrm>
            <a:off x="8440300" y="1523991"/>
            <a:ext cx="35607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Configuration</a:t>
            </a:r>
            <a:endParaRPr sz="2600" b="1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g3af6ac30de1_0_30"/>
          <p:cNvSpPr txBox="1">
            <a:spLocks noGrp="1"/>
          </p:cNvSpPr>
          <p:nvPr>
            <p:ph type="body" idx="3"/>
          </p:nvPr>
        </p:nvSpPr>
        <p:spPr>
          <a:xfrm>
            <a:off x="8440488" y="2043200"/>
            <a:ext cx="35604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Final Configuration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One IMU setup using the external BNO085 selected to prioritize system reliability and repeatable data collection within hardware constraints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endParaRPr dirty="0"/>
          </a:p>
        </p:txBody>
      </p:sp>
      <p:pic>
        <p:nvPicPr>
          <p:cNvPr id="249" name="Google Shape;249;g3af6ac30de1_0_30"/>
          <p:cNvPicPr preferRelativeResize="0"/>
          <p:nvPr/>
        </p:nvPicPr>
        <p:blipFill rotWithShape="1">
          <a:blip r:embed="rId3">
            <a:alphaModFix/>
          </a:blip>
          <a:srcRect l="16256" t="7971" r="16202" b="11513"/>
          <a:stretch/>
        </p:blipFill>
        <p:spPr>
          <a:xfrm>
            <a:off x="7662600" y="5193350"/>
            <a:ext cx="1593550" cy="14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af6ac30de1_0_30"/>
          <p:cNvSpPr/>
          <p:nvPr/>
        </p:nvSpPr>
        <p:spPr>
          <a:xfrm rot="10797941" flipH="1">
            <a:off x="7104900" y="5409800"/>
            <a:ext cx="501000" cy="470400"/>
          </a:xfrm>
          <a:prstGeom prst="bentArrow">
            <a:avLst>
              <a:gd name="adj1" fmla="val 25000"/>
              <a:gd name="adj2" fmla="val 20833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uiExpand="1" build="p"/>
      <p:bldP spid="244" grpId="0"/>
      <p:bldP spid="245" grpId="0" uiExpand="1" build="p"/>
      <p:bldP spid="246" grpId="0"/>
      <p:bldP spid="247" grpId="0"/>
      <p:bldP spid="248" grpId="0" uiExpand="1" build="p"/>
      <p:bldP spid="2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d96071cc1_3_0"/>
          <p:cNvSpPr txBox="1">
            <a:spLocks noGrp="1"/>
          </p:cNvSpPr>
          <p:nvPr>
            <p:ph type="title"/>
          </p:nvPr>
        </p:nvSpPr>
        <p:spPr>
          <a:xfrm>
            <a:off x="609600" y="594101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Final System Setup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g3cd96071cc1_3_0"/>
          <p:cNvSpPr/>
          <p:nvPr/>
        </p:nvSpPr>
        <p:spPr>
          <a:xfrm>
            <a:off x="10438675" y="6227950"/>
            <a:ext cx="1231500" cy="49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58" name="Google Shape;258;g3cd96071cc1_3_0"/>
          <p:cNvSpPr txBox="1"/>
          <p:nvPr/>
        </p:nvSpPr>
        <p:spPr>
          <a:xfrm>
            <a:off x="1123575" y="6079950"/>
            <a:ext cx="175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View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g3cd96071cc1_3_0"/>
          <p:cNvSpPr txBox="1"/>
          <p:nvPr/>
        </p:nvSpPr>
        <p:spPr>
          <a:xfrm>
            <a:off x="4781300" y="6079950"/>
            <a:ext cx="175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 View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cd96071cc1_3_0"/>
          <p:cNvSpPr txBox="1"/>
          <p:nvPr/>
        </p:nvSpPr>
        <p:spPr>
          <a:xfrm>
            <a:off x="7943950" y="6079950"/>
            <a:ext cx="3954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 View - Angle Change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1" name="Google Shape;261;g3cd96071cc1_3_0"/>
          <p:cNvCxnSpPr/>
          <p:nvPr/>
        </p:nvCxnSpPr>
        <p:spPr>
          <a:xfrm>
            <a:off x="5408600" y="1794250"/>
            <a:ext cx="5835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2" name="Google Shape;262;g3cd96071cc1_3_0"/>
          <p:cNvPicPr preferRelativeResize="0"/>
          <p:nvPr/>
        </p:nvPicPr>
        <p:blipFill rotWithShape="1">
          <a:blip r:embed="rId3">
            <a:alphaModFix/>
          </a:blip>
          <a:srcRect l="3985" b="3911"/>
          <a:stretch/>
        </p:blipFill>
        <p:spPr>
          <a:xfrm>
            <a:off x="1457150" y="1331325"/>
            <a:ext cx="9754691" cy="489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g3cd96071cc1_3_0"/>
          <p:cNvCxnSpPr/>
          <p:nvPr/>
        </p:nvCxnSpPr>
        <p:spPr>
          <a:xfrm rot="10800000">
            <a:off x="9903075" y="2791600"/>
            <a:ext cx="1421100" cy="92220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" name="Google Shape;264;g3cd96071cc1_3_0"/>
          <p:cNvCxnSpPr/>
          <p:nvPr/>
        </p:nvCxnSpPr>
        <p:spPr>
          <a:xfrm rot="10800000" flipH="1">
            <a:off x="3855350" y="1788850"/>
            <a:ext cx="1880700" cy="540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580b155b8_1_0"/>
          <p:cNvSpPr/>
          <p:nvPr/>
        </p:nvSpPr>
        <p:spPr>
          <a:xfrm>
            <a:off x="484800" y="1428400"/>
            <a:ext cx="11707200" cy="17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9580b155b8_1_0"/>
          <p:cNvSpPr txBox="1">
            <a:spLocks noGrp="1"/>
          </p:cNvSpPr>
          <p:nvPr>
            <p:ph type="ctrTitle"/>
          </p:nvPr>
        </p:nvSpPr>
        <p:spPr>
          <a:xfrm>
            <a:off x="484800" y="1381075"/>
            <a:ext cx="11418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Design Iterations: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Heel Cuff</a:t>
            </a:r>
            <a:endParaRPr sz="5000"/>
          </a:p>
        </p:txBody>
      </p:sp>
      <p:pic>
        <p:nvPicPr>
          <p:cNvPr id="272" name="Google Shape;272;g39580b155b8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767" y="3100175"/>
            <a:ext cx="1904218" cy="1467064"/>
          </a:xfrm>
          <a:prstGeom prst="rect">
            <a:avLst/>
          </a:prstGeom>
          <a:noFill/>
          <a:ln>
            <a:noFill/>
          </a:ln>
          <a:effectLst>
            <a:outerShdw blurRad="78654" dist="26218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273" name="Google Shape;273;g39580b155b8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5330" y="3100175"/>
            <a:ext cx="1904220" cy="146707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sp>
        <p:nvSpPr>
          <p:cNvPr id="274" name="Google Shape;274;g39580b155b8_1_0"/>
          <p:cNvSpPr txBox="1"/>
          <p:nvPr/>
        </p:nvSpPr>
        <p:spPr>
          <a:xfrm>
            <a:off x="840069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V1.0</a:t>
            </a:r>
            <a:endParaRPr sz="2477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g39580b155b8_1_0"/>
          <p:cNvSpPr txBox="1"/>
          <p:nvPr/>
        </p:nvSpPr>
        <p:spPr>
          <a:xfrm>
            <a:off x="4994465" y="5055598"/>
            <a:ext cx="2287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Material</a:t>
            </a:r>
            <a:r>
              <a:rPr lang="en-US" sz="2202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2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g39580b155b8_1_0"/>
          <p:cNvSpPr txBox="1"/>
          <p:nvPr/>
        </p:nvSpPr>
        <p:spPr>
          <a:xfrm>
            <a:off x="7587314" y="5060415"/>
            <a:ext cx="19041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Fit</a:t>
            </a:r>
            <a:r>
              <a:rPr lang="en-US" sz="2202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202" b="0" i="0" u="none" strike="noStrike" cap="none">
              <a:solidFill>
                <a:srgbClr val="27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9580b155b8_1_0"/>
          <p:cNvSpPr txBox="1"/>
          <p:nvPr/>
        </p:nvSpPr>
        <p:spPr>
          <a:xfrm>
            <a:off x="547541" y="5060415"/>
            <a:ext cx="1508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</a:t>
            </a:r>
            <a:endParaRPr sz="2477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g39580b155b8_1_0"/>
          <p:cNvSpPr txBox="1"/>
          <p:nvPr/>
        </p:nvSpPr>
        <p:spPr>
          <a:xfrm>
            <a:off x="2785316" y="5060415"/>
            <a:ext cx="19041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 Fit</a:t>
            </a:r>
            <a:endParaRPr sz="2202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9" name="Google Shape;279;g39580b155b8_1_0"/>
          <p:cNvCxnSpPr>
            <a:stCxn id="274" idx="3"/>
            <a:endCxn id="280" idx="1"/>
          </p:cNvCxnSpPr>
          <p:nvPr/>
        </p:nvCxnSpPr>
        <p:spPr>
          <a:xfrm>
            <a:off x="1763769" y="4884959"/>
            <a:ext cx="1512000" cy="0"/>
          </a:xfrm>
          <a:prstGeom prst="straightConnector1">
            <a:avLst/>
          </a:prstGeom>
          <a:noFill/>
          <a:ln w="3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0" name="Google Shape;280;g39580b155b8_1_0"/>
          <p:cNvSpPr txBox="1"/>
          <p:nvPr/>
        </p:nvSpPr>
        <p:spPr>
          <a:xfrm>
            <a:off x="3275632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V1.1</a:t>
            </a:r>
            <a:endParaRPr sz="2477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g39580b155b8_1_0"/>
          <p:cNvSpPr txBox="1"/>
          <p:nvPr/>
        </p:nvSpPr>
        <p:spPr>
          <a:xfrm>
            <a:off x="5676548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V1.2</a:t>
            </a:r>
            <a:endParaRPr sz="2477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g39580b155b8_1_0"/>
          <p:cNvSpPr txBox="1"/>
          <p:nvPr/>
        </p:nvSpPr>
        <p:spPr>
          <a:xfrm>
            <a:off x="8042815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V1.3</a:t>
            </a:r>
            <a:endParaRPr sz="2477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3" name="Google Shape;283;g39580b155b8_1_0"/>
          <p:cNvCxnSpPr>
            <a:stCxn id="280" idx="3"/>
            <a:endCxn id="281" idx="1"/>
          </p:cNvCxnSpPr>
          <p:nvPr/>
        </p:nvCxnSpPr>
        <p:spPr>
          <a:xfrm>
            <a:off x="4199332" y="4884959"/>
            <a:ext cx="1477200" cy="0"/>
          </a:xfrm>
          <a:prstGeom prst="straightConnector1">
            <a:avLst/>
          </a:prstGeom>
          <a:noFill/>
          <a:ln w="3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4" name="Google Shape;284;g39580b155b8_1_0"/>
          <p:cNvCxnSpPr>
            <a:stCxn id="282" idx="1"/>
            <a:endCxn id="281" idx="3"/>
          </p:cNvCxnSpPr>
          <p:nvPr/>
        </p:nvCxnSpPr>
        <p:spPr>
          <a:xfrm rot="10800000">
            <a:off x="6600115" y="4884959"/>
            <a:ext cx="1442700" cy="0"/>
          </a:xfrm>
          <a:prstGeom prst="straightConnector1">
            <a:avLst/>
          </a:prstGeom>
          <a:noFill/>
          <a:ln w="3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5" name="Google Shape;285;g39580b155b8_1_0"/>
          <p:cNvSpPr txBox="1"/>
          <p:nvPr/>
        </p:nvSpPr>
        <p:spPr>
          <a:xfrm>
            <a:off x="10409083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V1.4</a:t>
            </a:r>
            <a:endParaRPr sz="2477" b="1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6" name="Google Shape;286;g39580b155b8_1_0"/>
          <p:cNvCxnSpPr>
            <a:stCxn id="285" idx="1"/>
            <a:endCxn id="282" idx="3"/>
          </p:cNvCxnSpPr>
          <p:nvPr/>
        </p:nvCxnSpPr>
        <p:spPr>
          <a:xfrm rot="10800000">
            <a:off x="8966383" y="4884959"/>
            <a:ext cx="1442700" cy="0"/>
          </a:xfrm>
          <a:prstGeom prst="straightConnector1">
            <a:avLst/>
          </a:prstGeom>
          <a:noFill/>
          <a:ln w="3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g39580b155b8_1_0"/>
          <p:cNvSpPr txBox="1"/>
          <p:nvPr/>
        </p:nvSpPr>
        <p:spPr>
          <a:xfrm>
            <a:off x="9553243" y="5055607"/>
            <a:ext cx="2773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Connection</a:t>
            </a:r>
            <a:endParaRPr sz="2477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8" name="Google Shape;288;g39580b155b8_1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6249" y="3098145"/>
            <a:ext cx="1904217" cy="1466981"/>
          </a:xfrm>
          <a:prstGeom prst="rect">
            <a:avLst/>
          </a:prstGeom>
          <a:noFill/>
          <a:ln>
            <a:noFill/>
          </a:ln>
          <a:effectLst>
            <a:outerShdw blurRad="78654" dist="26218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289" name="Google Shape;289;g39580b155b8_1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87150" y="3098100"/>
            <a:ext cx="1904249" cy="1467075"/>
          </a:xfrm>
          <a:prstGeom prst="rect">
            <a:avLst/>
          </a:prstGeom>
          <a:noFill/>
          <a:ln>
            <a:noFill/>
          </a:ln>
          <a:effectLst>
            <a:outerShdw blurRad="78654" dist="26218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290" name="Google Shape;290;g39580b155b8_1_0"/>
          <p:cNvPicPr preferRelativeResize="0"/>
          <p:nvPr/>
        </p:nvPicPr>
        <p:blipFill rotWithShape="1">
          <a:blip r:embed="rId7">
            <a:alphaModFix/>
          </a:blip>
          <a:srcRect l="3552" t="7329" r="2727" b="7939"/>
          <a:stretch/>
        </p:blipFill>
        <p:spPr>
          <a:xfrm>
            <a:off x="9922313" y="3069625"/>
            <a:ext cx="2035674" cy="1524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d4918c9bf_0_1"/>
          <p:cNvSpPr/>
          <p:nvPr/>
        </p:nvSpPr>
        <p:spPr>
          <a:xfrm>
            <a:off x="484800" y="1428400"/>
            <a:ext cx="11707200" cy="17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cd4918c9bf_0_1"/>
          <p:cNvSpPr txBox="1">
            <a:spLocks noGrp="1"/>
          </p:cNvSpPr>
          <p:nvPr>
            <p:ph type="ctrTitle"/>
          </p:nvPr>
        </p:nvSpPr>
        <p:spPr>
          <a:xfrm>
            <a:off x="484800" y="1381075"/>
            <a:ext cx="11418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Design Iterations: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Heel Cuff</a:t>
            </a:r>
            <a:endParaRPr sz="5000"/>
          </a:p>
        </p:txBody>
      </p:sp>
      <p:pic>
        <p:nvPicPr>
          <p:cNvPr id="298" name="Google Shape;298;g3cd4918c9bf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767" y="3100175"/>
            <a:ext cx="1904218" cy="1467064"/>
          </a:xfrm>
          <a:prstGeom prst="rect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8654" dist="26218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299" name="Google Shape;299;g3cd4918c9bf_0_1"/>
          <p:cNvPicPr preferRelativeResize="0"/>
          <p:nvPr/>
        </p:nvPicPr>
        <p:blipFill rotWithShape="1">
          <a:blip r:embed="rId4">
            <a:alphaModFix amt="40000"/>
          </a:blip>
          <a:srcRect/>
          <a:stretch/>
        </p:blipFill>
        <p:spPr>
          <a:xfrm>
            <a:off x="2785330" y="3100175"/>
            <a:ext cx="1904220" cy="146707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9"/>
              </a:srgbClr>
            </a:outerShdw>
          </a:effectLst>
        </p:spPr>
      </p:pic>
      <p:sp>
        <p:nvSpPr>
          <p:cNvPr id="300" name="Google Shape;300;g3cd4918c9bf_0_1"/>
          <p:cNvSpPr txBox="1"/>
          <p:nvPr/>
        </p:nvSpPr>
        <p:spPr>
          <a:xfrm>
            <a:off x="840069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V1.0</a:t>
            </a:r>
            <a:endParaRPr sz="2477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g3cd4918c9bf_0_1"/>
          <p:cNvSpPr txBox="1"/>
          <p:nvPr/>
        </p:nvSpPr>
        <p:spPr>
          <a:xfrm>
            <a:off x="4994465" y="5055598"/>
            <a:ext cx="2287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Material</a:t>
            </a:r>
            <a:r>
              <a:rPr lang="en-US" sz="2202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2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g3cd4918c9bf_0_1"/>
          <p:cNvSpPr txBox="1"/>
          <p:nvPr/>
        </p:nvSpPr>
        <p:spPr>
          <a:xfrm>
            <a:off x="7587314" y="5060415"/>
            <a:ext cx="19041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Fit</a:t>
            </a:r>
            <a:r>
              <a:rPr lang="en-US" sz="2202" b="0" i="0" u="none" strike="noStrike" cap="non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202" b="0" i="0" u="none" strike="noStrike" cap="none">
              <a:solidFill>
                <a:srgbClr val="27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cd4918c9bf_0_1"/>
          <p:cNvSpPr txBox="1"/>
          <p:nvPr/>
        </p:nvSpPr>
        <p:spPr>
          <a:xfrm>
            <a:off x="547541" y="5060415"/>
            <a:ext cx="1508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</a:t>
            </a:r>
            <a:endParaRPr sz="2477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3cd4918c9bf_0_1"/>
          <p:cNvSpPr txBox="1"/>
          <p:nvPr/>
        </p:nvSpPr>
        <p:spPr>
          <a:xfrm>
            <a:off x="2785316" y="5060415"/>
            <a:ext cx="19041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 Fit</a:t>
            </a:r>
            <a:endParaRPr sz="2202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5" name="Google Shape;305;g3cd4918c9bf_0_1"/>
          <p:cNvCxnSpPr>
            <a:stCxn id="300" idx="3"/>
            <a:endCxn id="306" idx="1"/>
          </p:cNvCxnSpPr>
          <p:nvPr/>
        </p:nvCxnSpPr>
        <p:spPr>
          <a:xfrm>
            <a:off x="1763769" y="4884959"/>
            <a:ext cx="1512000" cy="0"/>
          </a:xfrm>
          <a:prstGeom prst="straightConnector1">
            <a:avLst/>
          </a:prstGeom>
          <a:noFill/>
          <a:ln w="3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g3cd4918c9bf_0_1"/>
          <p:cNvSpPr txBox="1"/>
          <p:nvPr/>
        </p:nvSpPr>
        <p:spPr>
          <a:xfrm>
            <a:off x="3275632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V1.1</a:t>
            </a:r>
            <a:endParaRPr sz="2477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3cd4918c9bf_0_1"/>
          <p:cNvSpPr txBox="1"/>
          <p:nvPr/>
        </p:nvSpPr>
        <p:spPr>
          <a:xfrm>
            <a:off x="5676548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V1.2</a:t>
            </a:r>
            <a:endParaRPr sz="2477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g3cd4918c9bf_0_1"/>
          <p:cNvSpPr txBox="1"/>
          <p:nvPr/>
        </p:nvSpPr>
        <p:spPr>
          <a:xfrm>
            <a:off x="8042815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V1.3</a:t>
            </a:r>
            <a:endParaRPr sz="2477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" name="Google Shape;309;g3cd4918c9bf_0_1"/>
          <p:cNvCxnSpPr>
            <a:stCxn id="306" idx="3"/>
            <a:endCxn id="307" idx="1"/>
          </p:cNvCxnSpPr>
          <p:nvPr/>
        </p:nvCxnSpPr>
        <p:spPr>
          <a:xfrm>
            <a:off x="4199332" y="4884959"/>
            <a:ext cx="1477200" cy="0"/>
          </a:xfrm>
          <a:prstGeom prst="straightConnector1">
            <a:avLst/>
          </a:prstGeom>
          <a:noFill/>
          <a:ln w="3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" name="Google Shape;310;g3cd4918c9bf_0_1"/>
          <p:cNvCxnSpPr>
            <a:stCxn id="308" idx="1"/>
            <a:endCxn id="307" idx="3"/>
          </p:cNvCxnSpPr>
          <p:nvPr/>
        </p:nvCxnSpPr>
        <p:spPr>
          <a:xfrm rot="10800000">
            <a:off x="6600115" y="4884959"/>
            <a:ext cx="1442700" cy="0"/>
          </a:xfrm>
          <a:prstGeom prst="straightConnector1">
            <a:avLst/>
          </a:prstGeom>
          <a:noFill/>
          <a:ln w="3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1" name="Google Shape;311;g3cd4918c9bf_0_1"/>
          <p:cNvSpPr txBox="1"/>
          <p:nvPr/>
        </p:nvSpPr>
        <p:spPr>
          <a:xfrm>
            <a:off x="10409083" y="4567259"/>
            <a:ext cx="9237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1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V1.4</a:t>
            </a:r>
            <a:endParaRPr sz="2477" b="1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2" name="Google Shape;312;g3cd4918c9bf_0_1"/>
          <p:cNvCxnSpPr>
            <a:stCxn id="311" idx="1"/>
            <a:endCxn id="308" idx="3"/>
          </p:cNvCxnSpPr>
          <p:nvPr/>
        </p:nvCxnSpPr>
        <p:spPr>
          <a:xfrm rot="10800000">
            <a:off x="8966383" y="4884959"/>
            <a:ext cx="1442700" cy="0"/>
          </a:xfrm>
          <a:prstGeom prst="straightConnector1">
            <a:avLst/>
          </a:prstGeom>
          <a:noFill/>
          <a:ln w="3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3" name="Google Shape;313;g3cd4918c9bf_0_1"/>
          <p:cNvSpPr txBox="1"/>
          <p:nvPr/>
        </p:nvSpPr>
        <p:spPr>
          <a:xfrm>
            <a:off x="9553243" y="5055607"/>
            <a:ext cx="2773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825" tIns="125825" rIns="125825" bIns="125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lang="en-US" sz="2477" b="0" i="0" u="none" strike="noStrike" cap="none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Connection</a:t>
            </a:r>
            <a:endParaRPr sz="2477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4" name="Google Shape;314;g3cd4918c9bf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6249" y="3098145"/>
            <a:ext cx="1904217" cy="1466981"/>
          </a:xfrm>
          <a:prstGeom prst="rect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8654" dist="26218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315" name="Google Shape;315;g3cd4918c9bf_0_1"/>
          <p:cNvPicPr preferRelativeResize="0"/>
          <p:nvPr/>
        </p:nvPicPr>
        <p:blipFill rotWithShape="1">
          <a:blip r:embed="rId6">
            <a:alphaModFix amt="40000"/>
          </a:blip>
          <a:srcRect/>
          <a:stretch/>
        </p:blipFill>
        <p:spPr>
          <a:xfrm>
            <a:off x="7587162" y="3098109"/>
            <a:ext cx="1904225" cy="1467065"/>
          </a:xfrm>
          <a:prstGeom prst="rect">
            <a:avLst/>
          </a:prstGeom>
          <a:noFill/>
          <a:ln>
            <a:noFill/>
          </a:ln>
          <a:effectLst>
            <a:outerShdw blurRad="78654" dist="26218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316" name="Google Shape;316;g3cd4918c9bf_0_1"/>
          <p:cNvPicPr preferRelativeResize="0"/>
          <p:nvPr/>
        </p:nvPicPr>
        <p:blipFill rotWithShape="1">
          <a:blip r:embed="rId7">
            <a:alphaModFix/>
          </a:blip>
          <a:srcRect l="3552" t="7329" r="2727" b="7939"/>
          <a:stretch/>
        </p:blipFill>
        <p:spPr>
          <a:xfrm>
            <a:off x="9922313" y="3069625"/>
            <a:ext cx="2035674" cy="1524001"/>
          </a:xfrm>
          <a:prstGeom prst="rect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g3cad5981fa5_0_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7201" y="1998037"/>
            <a:ext cx="5245429" cy="4041226"/>
          </a:xfrm>
          <a:prstGeom prst="rect">
            <a:avLst/>
          </a:prstGeom>
          <a:noFill/>
          <a:ln>
            <a:noFill/>
          </a:ln>
          <a:effectLst>
            <a:outerShdw blurRad="73795" dist="24598" dir="5400000" algn="bl" rotWithShape="0">
              <a:srgbClr val="000000">
                <a:alpha val="50196"/>
              </a:srgbClr>
            </a:outerShdw>
          </a:effectLst>
        </p:spPr>
      </p:pic>
      <p:sp>
        <p:nvSpPr>
          <p:cNvPr id="323" name="Google Shape;323;g3cad5981fa5_0_135"/>
          <p:cNvSpPr/>
          <p:nvPr/>
        </p:nvSpPr>
        <p:spPr>
          <a:xfrm>
            <a:off x="10425293" y="2286050"/>
            <a:ext cx="866700" cy="556800"/>
          </a:xfrm>
          <a:prstGeom prst="roundRect">
            <a:avLst>
              <a:gd name="adj" fmla="val 16667"/>
            </a:avLst>
          </a:prstGeom>
          <a:solidFill>
            <a:srgbClr val="929FB1"/>
          </a:solidFill>
          <a:ln w="12300" cap="flat" cmpd="sng">
            <a:solidFill>
              <a:srgbClr val="92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075" tIns="118075" rIns="118075" bIns="11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6"/>
              <a:buFont typeface="Arial"/>
              <a:buNone/>
            </a:pPr>
            <a:r>
              <a:rPr lang="en-US" sz="1956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</a:t>
            </a:r>
            <a:endParaRPr sz="1956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4" name="Google Shape;324;g3cad5981fa5_0_135"/>
          <p:cNvCxnSpPr>
            <a:stCxn id="323" idx="1"/>
          </p:cNvCxnSpPr>
          <p:nvPr/>
        </p:nvCxnSpPr>
        <p:spPr>
          <a:xfrm flipH="1">
            <a:off x="9935693" y="2564450"/>
            <a:ext cx="489600" cy="900"/>
          </a:xfrm>
          <a:prstGeom prst="straightConnector1">
            <a:avLst/>
          </a:prstGeom>
          <a:noFill/>
          <a:ln w="36875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5" name="Google Shape;325;g3cad5981fa5_0_135"/>
          <p:cNvSpPr txBox="1">
            <a:spLocks noGrp="1"/>
          </p:cNvSpPr>
          <p:nvPr>
            <p:ph type="title"/>
          </p:nvPr>
        </p:nvSpPr>
        <p:spPr>
          <a:xfrm>
            <a:off x="609600" y="579894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Design Iterations - Heel Cuff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g3cad5981fa5_0_135"/>
          <p:cNvSpPr/>
          <p:nvPr/>
        </p:nvSpPr>
        <p:spPr>
          <a:xfrm>
            <a:off x="610350" y="1524000"/>
            <a:ext cx="4784400" cy="4989300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V1.0 - Prototype</a:t>
            </a:r>
            <a:endParaRPr sz="2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cad5981fa5_0_135"/>
          <p:cNvSpPr/>
          <p:nvPr/>
        </p:nvSpPr>
        <p:spPr>
          <a:xfrm>
            <a:off x="609600" y="2334500"/>
            <a:ext cx="4785900" cy="4397700"/>
          </a:xfrm>
          <a:prstGeom prst="round2SameRect">
            <a:avLst>
              <a:gd name="adj1" fmla="val 0"/>
              <a:gd name="adj2" fmla="val 23036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Structure: 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U-shape wraps heel effectively 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 Storage: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Built-in slots for computer chips &amp; battery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 b="1" i="0" u="sng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Fit:</a:t>
            </a: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too large → cuffs sits loose and low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 b="1" i="0" u="sng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Flexibility: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Material too stiff → limits movement </a:t>
            </a:r>
            <a:endParaRPr sz="2049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ad5981fa5_0_250"/>
          <p:cNvSpPr txBox="1">
            <a:spLocks noGrp="1"/>
          </p:cNvSpPr>
          <p:nvPr>
            <p:ph type="title"/>
          </p:nvPr>
        </p:nvSpPr>
        <p:spPr>
          <a:xfrm>
            <a:off x="609600" y="606653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Design Iterations - Heel Cuff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g3cad5981fa5_0_250"/>
          <p:cNvSpPr/>
          <p:nvPr/>
        </p:nvSpPr>
        <p:spPr>
          <a:xfrm>
            <a:off x="610350" y="1524000"/>
            <a:ext cx="4784400" cy="4989300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V1.2 - Dual Material</a:t>
            </a:r>
            <a:endParaRPr sz="2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cad5981fa5_0_250"/>
          <p:cNvSpPr/>
          <p:nvPr/>
        </p:nvSpPr>
        <p:spPr>
          <a:xfrm>
            <a:off x="609600" y="2334500"/>
            <a:ext cx="4785900" cy="4397700"/>
          </a:xfrm>
          <a:prstGeom prst="round2SameRect">
            <a:avLst>
              <a:gd name="adj1" fmla="val 0"/>
              <a:gd name="adj2" fmla="val 23036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87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lang="en-US" sz="2049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Two-Part Design: </a:t>
            </a:r>
            <a:r>
              <a:rPr lang="en-US" sz="20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Pin-connectors separate arms from base</a:t>
            </a:r>
            <a:endParaRPr sz="2049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87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lang="en-US" sz="2049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Materials: </a:t>
            </a:r>
            <a:r>
              <a:rPr lang="en-US" sz="20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 arms + rigid base for electronics </a:t>
            </a:r>
            <a:endParaRPr sz="2049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87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lang="en-US" sz="2049" b="1" i="0" u="sng" strike="noStrike" cap="non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 &amp; Comfort:</a:t>
            </a:r>
            <a:r>
              <a:rPr lang="en-US" sz="2049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Forked elastic arms fit &amp; mold to the foot </a:t>
            </a:r>
            <a:endParaRPr sz="2049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87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lang="en-US" sz="2049" b="1" i="0" u="sng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Issue:</a:t>
            </a:r>
            <a:r>
              <a:rPr lang="en-US" sz="2049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gap forms at connection when arms flex</a:t>
            </a:r>
            <a:endParaRPr sz="2049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9"/>
              <a:buFont typeface="Arial"/>
              <a:buNone/>
            </a:pPr>
            <a:endParaRPr sz="2049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6" name="Google Shape;336;g3cad5981fa5_0_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3388" y="1998026"/>
            <a:ext cx="5245748" cy="4041226"/>
          </a:xfrm>
          <a:prstGeom prst="rect">
            <a:avLst/>
          </a:prstGeom>
          <a:noFill/>
          <a:ln>
            <a:noFill/>
          </a:ln>
          <a:effectLst>
            <a:outerShdw blurRad="73800" dist="24600" dir="5400000" algn="bl" rotWithShape="0">
              <a:srgbClr val="000000">
                <a:alpha val="50196"/>
              </a:srgbClr>
            </a:outerShdw>
          </a:effectLst>
        </p:spPr>
      </p:pic>
      <p:sp>
        <p:nvSpPr>
          <p:cNvPr id="337" name="Google Shape;337;g3cad5981fa5_0_250"/>
          <p:cNvSpPr/>
          <p:nvPr/>
        </p:nvSpPr>
        <p:spPr>
          <a:xfrm>
            <a:off x="10319847" y="2320257"/>
            <a:ext cx="866400" cy="556800"/>
          </a:xfrm>
          <a:prstGeom prst="roundRect">
            <a:avLst>
              <a:gd name="adj" fmla="val 16667"/>
            </a:avLst>
          </a:prstGeom>
          <a:solidFill>
            <a:srgbClr val="93A0B2"/>
          </a:solidFill>
          <a:ln w="12275" cap="flat" cmpd="sng">
            <a:solidFill>
              <a:srgbClr val="93A0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075" tIns="118075" rIns="118075" bIns="11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8"/>
              <a:buFont typeface="Arial"/>
              <a:buNone/>
            </a:pPr>
            <a:r>
              <a:rPr lang="en-US" sz="1807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</a:t>
            </a:r>
            <a:endParaRPr sz="1807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8" name="Google Shape;338;g3cad5981fa5_0_250"/>
          <p:cNvCxnSpPr>
            <a:stCxn id="337" idx="2"/>
          </p:cNvCxnSpPr>
          <p:nvPr/>
        </p:nvCxnSpPr>
        <p:spPr>
          <a:xfrm>
            <a:off x="10753047" y="2877057"/>
            <a:ext cx="9900" cy="446700"/>
          </a:xfrm>
          <a:prstGeom prst="straightConnector1">
            <a:avLst/>
          </a:prstGeom>
          <a:noFill/>
          <a:ln w="36900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9" name="Google Shape;339;g3cad5981fa5_0_250"/>
          <p:cNvSpPr/>
          <p:nvPr/>
        </p:nvSpPr>
        <p:spPr>
          <a:xfrm>
            <a:off x="6271230" y="2085203"/>
            <a:ext cx="866400" cy="556800"/>
          </a:xfrm>
          <a:prstGeom prst="roundRect">
            <a:avLst>
              <a:gd name="adj" fmla="val 16667"/>
            </a:avLst>
          </a:prstGeom>
          <a:solidFill>
            <a:srgbClr val="909EB0"/>
          </a:solidFill>
          <a:ln w="12275" cap="flat" cmpd="sng">
            <a:solidFill>
              <a:srgbClr val="919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075" tIns="118075" rIns="118075" bIns="11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8"/>
              <a:buFont typeface="Arial"/>
              <a:buNone/>
            </a:pPr>
            <a:r>
              <a:rPr lang="en-US" sz="1807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TPU</a:t>
            </a:r>
            <a:endParaRPr sz="1807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0" name="Google Shape;340;g3cad5981fa5_0_250"/>
          <p:cNvCxnSpPr>
            <a:stCxn id="339" idx="2"/>
          </p:cNvCxnSpPr>
          <p:nvPr/>
        </p:nvCxnSpPr>
        <p:spPr>
          <a:xfrm flipH="1">
            <a:off x="6700830" y="2642003"/>
            <a:ext cx="3600" cy="415200"/>
          </a:xfrm>
          <a:prstGeom prst="straightConnector1">
            <a:avLst/>
          </a:prstGeom>
          <a:noFill/>
          <a:ln w="36900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1" name="Google Shape;341;g3cad5981fa5_0_250"/>
          <p:cNvSpPr/>
          <p:nvPr/>
        </p:nvSpPr>
        <p:spPr>
          <a:xfrm>
            <a:off x="7331350" y="4093775"/>
            <a:ext cx="664200" cy="669600"/>
          </a:xfrm>
          <a:prstGeom prst="donut">
            <a:avLst>
              <a:gd name="adj" fmla="val 936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ad5981fa5_0_300"/>
          <p:cNvSpPr txBox="1">
            <a:spLocks noGrp="1"/>
          </p:cNvSpPr>
          <p:nvPr>
            <p:ph type="title"/>
          </p:nvPr>
        </p:nvSpPr>
        <p:spPr>
          <a:xfrm>
            <a:off x="609602" y="578899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Design Iterations - Heel Cuff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g3cad5981fa5_0_300"/>
          <p:cNvSpPr/>
          <p:nvPr/>
        </p:nvSpPr>
        <p:spPr>
          <a:xfrm>
            <a:off x="610350" y="1524000"/>
            <a:ext cx="4784400" cy="4989300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V1.4 - Secure Connection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g3cad5981fa5_0_300"/>
          <p:cNvSpPr/>
          <p:nvPr/>
        </p:nvSpPr>
        <p:spPr>
          <a:xfrm>
            <a:off x="609600" y="2334500"/>
            <a:ext cx="4785900" cy="4397700"/>
          </a:xfrm>
          <a:prstGeom prst="round2SameRect">
            <a:avLst>
              <a:gd name="adj1" fmla="val 0"/>
              <a:gd name="adj2" fmla="val 23036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Assembly: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Slot &amp; rivet system simplifies connections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Fix: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 stays flush when arms flex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 Design: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Smaller battery &amp; repositioned ESP32 → thinner, lighter design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Access: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Ports simplify wiring &amp; sensor testing, cover addition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0" name="Google Shape;350;g3cad5981fa5_0_300"/>
          <p:cNvPicPr preferRelativeResize="0"/>
          <p:nvPr/>
        </p:nvPicPr>
        <p:blipFill rotWithShape="1">
          <a:blip r:embed="rId3">
            <a:alphaModFix/>
          </a:blip>
          <a:srcRect l="3552" t="7329" r="2727" b="7939"/>
          <a:stretch/>
        </p:blipFill>
        <p:spPr>
          <a:xfrm>
            <a:off x="6184401" y="1998025"/>
            <a:ext cx="5398001" cy="40412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sp>
        <p:nvSpPr>
          <p:cNvPr id="351" name="Google Shape;351;g3cad5981fa5_0_300"/>
          <p:cNvSpPr/>
          <p:nvPr/>
        </p:nvSpPr>
        <p:spPr>
          <a:xfrm>
            <a:off x="6949575" y="5332810"/>
            <a:ext cx="866700" cy="447000"/>
          </a:xfrm>
          <a:prstGeom prst="roundRect">
            <a:avLst>
              <a:gd name="adj" fmla="val 16667"/>
            </a:avLst>
          </a:prstGeom>
          <a:solidFill>
            <a:srgbClr val="B3BBC7"/>
          </a:solidFill>
          <a:ln w="12300" cap="flat" cmpd="sng">
            <a:solidFill>
              <a:srgbClr val="B3BB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075" tIns="118075" rIns="118075" bIns="11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8"/>
              <a:buFont typeface="Arial"/>
              <a:buNone/>
            </a:pPr>
            <a:r>
              <a:rPr lang="en-US" sz="1807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TPU</a:t>
            </a:r>
            <a:endParaRPr sz="1807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2" name="Google Shape;352;g3cad5981fa5_0_300"/>
          <p:cNvCxnSpPr>
            <a:stCxn id="351" idx="0"/>
          </p:cNvCxnSpPr>
          <p:nvPr/>
        </p:nvCxnSpPr>
        <p:spPr>
          <a:xfrm rot="10800000" flipH="1">
            <a:off x="7382925" y="4869310"/>
            <a:ext cx="1200" cy="463500"/>
          </a:xfrm>
          <a:prstGeom prst="straightConnector1">
            <a:avLst/>
          </a:prstGeom>
          <a:noFill/>
          <a:ln w="36900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3" name="Google Shape;353;g3cad5981fa5_0_300"/>
          <p:cNvCxnSpPr>
            <a:stCxn id="354" idx="2"/>
          </p:cNvCxnSpPr>
          <p:nvPr/>
        </p:nvCxnSpPr>
        <p:spPr>
          <a:xfrm flipH="1">
            <a:off x="10422214" y="3538137"/>
            <a:ext cx="543000" cy="342000"/>
          </a:xfrm>
          <a:prstGeom prst="straightConnector1">
            <a:avLst/>
          </a:prstGeom>
          <a:noFill/>
          <a:ln w="36900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4" name="Google Shape;354;g3cad5981fa5_0_300"/>
          <p:cNvSpPr/>
          <p:nvPr/>
        </p:nvSpPr>
        <p:spPr>
          <a:xfrm>
            <a:off x="10531864" y="2981337"/>
            <a:ext cx="866700" cy="556800"/>
          </a:xfrm>
          <a:prstGeom prst="roundRect">
            <a:avLst>
              <a:gd name="adj" fmla="val 16667"/>
            </a:avLst>
          </a:prstGeom>
          <a:solidFill>
            <a:srgbClr val="9DA8B9"/>
          </a:solidFill>
          <a:ln w="12300" cap="flat" cmpd="sng">
            <a:solidFill>
              <a:srgbClr val="9DA9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075" tIns="118075" rIns="118075" bIns="11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8"/>
              <a:buFont typeface="Arial"/>
              <a:buNone/>
            </a:pPr>
            <a:r>
              <a:rPr lang="en-US" sz="1807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</a:t>
            </a:r>
            <a:endParaRPr sz="1807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ad5981fa5_0_346"/>
          <p:cNvSpPr/>
          <p:nvPr/>
        </p:nvSpPr>
        <p:spPr>
          <a:xfrm>
            <a:off x="484800" y="1428400"/>
            <a:ext cx="11707200" cy="17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cad5981fa5_0_346"/>
          <p:cNvSpPr txBox="1">
            <a:spLocks noGrp="1"/>
          </p:cNvSpPr>
          <p:nvPr>
            <p:ph type="ctrTitle"/>
          </p:nvPr>
        </p:nvSpPr>
        <p:spPr>
          <a:xfrm>
            <a:off x="484800" y="1381075"/>
            <a:ext cx="11418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Design Iterations: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Shank Hub</a:t>
            </a:r>
            <a:endParaRPr sz="5000"/>
          </a:p>
        </p:txBody>
      </p:sp>
      <p:sp>
        <p:nvSpPr>
          <p:cNvPr id="362" name="Google Shape;362;g3cad5981fa5_0_346"/>
          <p:cNvSpPr txBox="1"/>
          <p:nvPr/>
        </p:nvSpPr>
        <p:spPr>
          <a:xfrm>
            <a:off x="647001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V1.0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g3cad5981fa5_0_346"/>
          <p:cNvSpPr txBox="1"/>
          <p:nvPr/>
        </p:nvSpPr>
        <p:spPr>
          <a:xfrm>
            <a:off x="7104814" y="5197541"/>
            <a:ext cx="2677500" cy="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1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 &amp; QOL Improvements</a:t>
            </a:r>
            <a:endParaRPr sz="2229" b="0" i="0" u="none" strike="noStrike" cap="none">
              <a:solidFill>
                <a:srgbClr val="AB192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cad5981fa5_0_346"/>
          <p:cNvSpPr txBox="1"/>
          <p:nvPr/>
        </p:nvSpPr>
        <p:spPr>
          <a:xfrm>
            <a:off x="350773" y="5197559"/>
            <a:ext cx="15276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9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</a:t>
            </a:r>
            <a:endParaRPr sz="1951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5" name="Google Shape;365;g3cad5981fa5_0_346"/>
          <p:cNvCxnSpPr>
            <a:stCxn id="362" idx="3"/>
            <a:endCxn id="366" idx="1"/>
          </p:cNvCxnSpPr>
          <p:nvPr/>
        </p:nvCxnSpPr>
        <p:spPr>
          <a:xfrm>
            <a:off x="1582101" y="5019919"/>
            <a:ext cx="1531200" cy="0"/>
          </a:xfrm>
          <a:prstGeom prst="straightConnector1">
            <a:avLst/>
          </a:prstGeom>
          <a:noFill/>
          <a:ln w="39825" cap="flat" cmpd="sng">
            <a:solidFill>
              <a:srgbClr val="6D6D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g3cad5981fa5_0_346"/>
          <p:cNvSpPr txBox="1"/>
          <p:nvPr/>
        </p:nvSpPr>
        <p:spPr>
          <a:xfrm>
            <a:off x="3113370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V2.0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g3cad5981fa5_0_346"/>
          <p:cNvSpPr txBox="1"/>
          <p:nvPr/>
        </p:nvSpPr>
        <p:spPr>
          <a:xfrm>
            <a:off x="5544653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V2.1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g3cad5981fa5_0_346"/>
          <p:cNvSpPr txBox="1"/>
          <p:nvPr/>
        </p:nvSpPr>
        <p:spPr>
          <a:xfrm>
            <a:off x="7940850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V2.2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9" name="Google Shape;369;g3cad5981fa5_0_346"/>
          <p:cNvCxnSpPr>
            <a:stCxn id="366" idx="3"/>
            <a:endCxn id="367" idx="1"/>
          </p:cNvCxnSpPr>
          <p:nvPr/>
        </p:nvCxnSpPr>
        <p:spPr>
          <a:xfrm>
            <a:off x="4048470" y="5019919"/>
            <a:ext cx="1496100" cy="0"/>
          </a:xfrm>
          <a:prstGeom prst="straightConnector1">
            <a:avLst/>
          </a:prstGeom>
          <a:noFill/>
          <a:ln w="39825" cap="flat" cmpd="sng">
            <a:solidFill>
              <a:srgbClr val="6D6D6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0" name="Google Shape;370;g3cad5981fa5_0_346"/>
          <p:cNvCxnSpPr>
            <a:stCxn id="368" idx="1"/>
            <a:endCxn id="367" idx="3"/>
          </p:cNvCxnSpPr>
          <p:nvPr/>
        </p:nvCxnSpPr>
        <p:spPr>
          <a:xfrm rot="10800000">
            <a:off x="6479850" y="5019919"/>
            <a:ext cx="1461000" cy="0"/>
          </a:xfrm>
          <a:prstGeom prst="straightConnector1">
            <a:avLst/>
          </a:prstGeom>
          <a:noFill/>
          <a:ln w="39825" cap="flat" cmpd="sng">
            <a:solidFill>
              <a:srgbClr val="6D6D6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" name="Google Shape;371;g3cad5981fa5_0_346"/>
          <p:cNvCxnSpPr/>
          <p:nvPr/>
        </p:nvCxnSpPr>
        <p:spPr>
          <a:xfrm rot="10800000">
            <a:off x="8911116" y="5019900"/>
            <a:ext cx="1461000" cy="0"/>
          </a:xfrm>
          <a:prstGeom prst="straightConnector1">
            <a:avLst/>
          </a:prstGeom>
          <a:noFill/>
          <a:ln w="39825" cap="flat" cmpd="sng">
            <a:solidFill>
              <a:srgbClr val="6D6D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2" name="Google Shape;372;g3cad5981fa5_0_346"/>
          <p:cNvSpPr txBox="1"/>
          <p:nvPr/>
        </p:nvSpPr>
        <p:spPr>
          <a:xfrm>
            <a:off x="10407219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V2.3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g3cad5981fa5_0_346"/>
          <p:cNvSpPr txBox="1"/>
          <p:nvPr/>
        </p:nvSpPr>
        <p:spPr>
          <a:xfrm>
            <a:off x="9536097" y="5261459"/>
            <a:ext cx="26775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9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Stability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4" name="Google Shape;374;g3cad5981fa5_0_3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101" y="3180557"/>
            <a:ext cx="1531094" cy="154537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5" name="Google Shape;375;g3cad5981fa5_0_3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5637" y="3076374"/>
            <a:ext cx="1646643" cy="171449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6" name="Google Shape;376;g3cad5981fa5_0_3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5070" y="3105250"/>
            <a:ext cx="1553628" cy="1714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7" name="Google Shape;377;g3cad5981fa5_0_34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5899" y="3105237"/>
            <a:ext cx="1608890" cy="17145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8" name="Google Shape;378;g3cad5981fa5_0_34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61976" y="3080875"/>
            <a:ext cx="1553624" cy="169747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9" name="Google Shape;379;g3cad5981fa5_0_346"/>
          <p:cNvSpPr txBox="1"/>
          <p:nvPr/>
        </p:nvSpPr>
        <p:spPr>
          <a:xfrm>
            <a:off x="2182685" y="5197559"/>
            <a:ext cx="25611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9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Redesigned Lid</a:t>
            </a:r>
            <a:endParaRPr sz="1951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g3cad5981fa5_0_346"/>
          <p:cNvSpPr txBox="1"/>
          <p:nvPr/>
        </p:nvSpPr>
        <p:spPr>
          <a:xfrm>
            <a:off x="5048153" y="5197559"/>
            <a:ext cx="19284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Pin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d0760cfb2_0_0"/>
          <p:cNvSpPr/>
          <p:nvPr/>
        </p:nvSpPr>
        <p:spPr>
          <a:xfrm>
            <a:off x="484800" y="1428400"/>
            <a:ext cx="11707200" cy="17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cd0760cfb2_0_0"/>
          <p:cNvSpPr txBox="1">
            <a:spLocks noGrp="1"/>
          </p:cNvSpPr>
          <p:nvPr>
            <p:ph type="ctrTitle"/>
          </p:nvPr>
        </p:nvSpPr>
        <p:spPr>
          <a:xfrm>
            <a:off x="484800" y="1381075"/>
            <a:ext cx="11418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Design Iterations: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Shank Hub</a:t>
            </a:r>
            <a:endParaRPr sz="5000"/>
          </a:p>
        </p:txBody>
      </p:sp>
      <p:sp>
        <p:nvSpPr>
          <p:cNvPr id="388" name="Google Shape;388;g3cd0760cfb2_0_0"/>
          <p:cNvSpPr txBox="1"/>
          <p:nvPr/>
        </p:nvSpPr>
        <p:spPr>
          <a:xfrm>
            <a:off x="647001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V1.0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g3cd0760cfb2_0_0"/>
          <p:cNvSpPr txBox="1"/>
          <p:nvPr/>
        </p:nvSpPr>
        <p:spPr>
          <a:xfrm>
            <a:off x="5048153" y="5197559"/>
            <a:ext cx="19284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Pin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g3cd0760cfb2_0_0"/>
          <p:cNvSpPr txBox="1"/>
          <p:nvPr/>
        </p:nvSpPr>
        <p:spPr>
          <a:xfrm>
            <a:off x="7104814" y="5197541"/>
            <a:ext cx="2677500" cy="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1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 &amp; QOL Improvements</a:t>
            </a:r>
            <a:endParaRPr sz="2229" b="0" i="0" u="none" strike="noStrike" cap="none">
              <a:solidFill>
                <a:srgbClr val="AB192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g3cd0760cfb2_0_0"/>
          <p:cNvSpPr txBox="1"/>
          <p:nvPr/>
        </p:nvSpPr>
        <p:spPr>
          <a:xfrm>
            <a:off x="350773" y="5197559"/>
            <a:ext cx="15276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9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</a:t>
            </a:r>
            <a:endParaRPr sz="1951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g3cd0760cfb2_0_0"/>
          <p:cNvSpPr txBox="1"/>
          <p:nvPr/>
        </p:nvSpPr>
        <p:spPr>
          <a:xfrm>
            <a:off x="2182685" y="5197559"/>
            <a:ext cx="25611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9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Redesigned Lid</a:t>
            </a:r>
            <a:endParaRPr sz="1951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3" name="Google Shape;393;g3cd0760cfb2_0_0"/>
          <p:cNvCxnSpPr>
            <a:stCxn id="388" idx="3"/>
            <a:endCxn id="394" idx="1"/>
          </p:cNvCxnSpPr>
          <p:nvPr/>
        </p:nvCxnSpPr>
        <p:spPr>
          <a:xfrm>
            <a:off x="1582101" y="5019919"/>
            <a:ext cx="1531200" cy="0"/>
          </a:xfrm>
          <a:prstGeom prst="straightConnector1">
            <a:avLst/>
          </a:prstGeom>
          <a:noFill/>
          <a:ln w="39825" cap="flat" cmpd="sng">
            <a:solidFill>
              <a:srgbClr val="6D6D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4" name="Google Shape;394;g3cd0760cfb2_0_0"/>
          <p:cNvSpPr txBox="1"/>
          <p:nvPr/>
        </p:nvSpPr>
        <p:spPr>
          <a:xfrm>
            <a:off x="3113370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</a:t>
            </a:r>
            <a:r>
              <a:rPr lang="en-US" sz="2508" b="1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g3cd0760cfb2_0_0"/>
          <p:cNvSpPr txBox="1"/>
          <p:nvPr/>
        </p:nvSpPr>
        <p:spPr>
          <a:xfrm>
            <a:off x="5544653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</a:t>
            </a:r>
            <a:r>
              <a:rPr lang="en-US" sz="2508" b="1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g3cd0760cfb2_0_0"/>
          <p:cNvSpPr txBox="1"/>
          <p:nvPr/>
        </p:nvSpPr>
        <p:spPr>
          <a:xfrm>
            <a:off x="7940850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</a:t>
            </a:r>
            <a:r>
              <a:rPr lang="en-US" sz="2508" b="1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7" name="Google Shape;397;g3cd0760cfb2_0_0"/>
          <p:cNvCxnSpPr>
            <a:stCxn id="394" idx="3"/>
            <a:endCxn id="395" idx="1"/>
          </p:cNvCxnSpPr>
          <p:nvPr/>
        </p:nvCxnSpPr>
        <p:spPr>
          <a:xfrm>
            <a:off x="4048470" y="5019919"/>
            <a:ext cx="1496100" cy="0"/>
          </a:xfrm>
          <a:prstGeom prst="straightConnector1">
            <a:avLst/>
          </a:prstGeom>
          <a:noFill/>
          <a:ln w="39825" cap="flat" cmpd="sng">
            <a:solidFill>
              <a:srgbClr val="6D6D6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8" name="Google Shape;398;g3cd0760cfb2_0_0"/>
          <p:cNvCxnSpPr>
            <a:stCxn id="396" idx="1"/>
            <a:endCxn id="395" idx="3"/>
          </p:cNvCxnSpPr>
          <p:nvPr/>
        </p:nvCxnSpPr>
        <p:spPr>
          <a:xfrm rot="10800000">
            <a:off x="6479850" y="5019919"/>
            <a:ext cx="1461000" cy="0"/>
          </a:xfrm>
          <a:prstGeom prst="straightConnector1">
            <a:avLst/>
          </a:prstGeom>
          <a:noFill/>
          <a:ln w="39825" cap="flat" cmpd="sng">
            <a:solidFill>
              <a:srgbClr val="6D6D6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9" name="Google Shape;399;g3cd0760cfb2_0_0"/>
          <p:cNvCxnSpPr/>
          <p:nvPr/>
        </p:nvCxnSpPr>
        <p:spPr>
          <a:xfrm rot="10800000">
            <a:off x="8911116" y="5019900"/>
            <a:ext cx="1461000" cy="0"/>
          </a:xfrm>
          <a:prstGeom prst="straightConnector1">
            <a:avLst/>
          </a:prstGeom>
          <a:noFill/>
          <a:ln w="39825" cap="flat" cmpd="sng">
            <a:solidFill>
              <a:srgbClr val="6D6D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0" name="Google Shape;400;g3cd0760cfb2_0_0"/>
          <p:cNvSpPr txBox="1"/>
          <p:nvPr/>
        </p:nvSpPr>
        <p:spPr>
          <a:xfrm>
            <a:off x="10407219" y="4698169"/>
            <a:ext cx="9351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9"/>
              <a:buFont typeface="Arial"/>
              <a:buNone/>
            </a:pPr>
            <a:r>
              <a:rPr lang="en-US" sz="2508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</a:t>
            </a:r>
            <a:r>
              <a:rPr lang="en-US" sz="2508" b="1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g3cd0760cfb2_0_0"/>
          <p:cNvSpPr txBox="1"/>
          <p:nvPr/>
        </p:nvSpPr>
        <p:spPr>
          <a:xfrm>
            <a:off x="9536097" y="5261459"/>
            <a:ext cx="26775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425" tIns="127425" rIns="127425" bIns="127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9"/>
              <a:buFont typeface="Arial"/>
              <a:buNone/>
            </a:pPr>
            <a:r>
              <a:rPr lang="en-US" sz="222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Stability</a:t>
            </a:r>
            <a:endParaRPr sz="222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2" name="Google Shape;402;g3cd0760cfb2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101" y="3180557"/>
            <a:ext cx="1531094" cy="1545371"/>
          </a:xfrm>
          <a:prstGeom prst="rect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03" name="Google Shape;403;g3cd0760cfb2_0_0"/>
          <p:cNvPicPr preferRelativeResize="0"/>
          <p:nvPr/>
        </p:nvPicPr>
        <p:blipFill rotWithShape="1">
          <a:blip r:embed="rId4">
            <a:alphaModFix amt="40000"/>
          </a:blip>
          <a:srcRect/>
          <a:stretch/>
        </p:blipFill>
        <p:spPr>
          <a:xfrm>
            <a:off x="2705637" y="3076374"/>
            <a:ext cx="1646643" cy="171449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404" name="Google Shape;404;g3cd0760cfb2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5070" y="3105250"/>
            <a:ext cx="1553628" cy="1714500"/>
          </a:xfrm>
          <a:prstGeom prst="rect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05" name="Google Shape;405;g3cd0760cfb2_0_0"/>
          <p:cNvPicPr preferRelativeResize="0"/>
          <p:nvPr/>
        </p:nvPicPr>
        <p:blipFill rotWithShape="1">
          <a:blip r:embed="rId6">
            <a:alphaModFix amt="40000"/>
          </a:blip>
          <a:srcRect/>
          <a:stretch/>
        </p:blipFill>
        <p:spPr>
          <a:xfrm>
            <a:off x="7705899" y="3105237"/>
            <a:ext cx="1608890" cy="17145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406" name="Google Shape;406;g3cd0760cfb2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61976" y="3080875"/>
            <a:ext cx="1553624" cy="1697476"/>
          </a:xfrm>
          <a:prstGeom prst="rect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g3bc97b47c7d_4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5150" y="1645102"/>
            <a:ext cx="4703243" cy="474710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bc97b47c7d_4_0"/>
          <p:cNvSpPr txBox="1">
            <a:spLocks noGrp="1"/>
          </p:cNvSpPr>
          <p:nvPr>
            <p:ph type="title"/>
          </p:nvPr>
        </p:nvSpPr>
        <p:spPr>
          <a:xfrm>
            <a:off x="609600" y="628373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Design Iterations - Shank Hub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g3bc97b47c7d_4_0"/>
          <p:cNvSpPr/>
          <p:nvPr/>
        </p:nvSpPr>
        <p:spPr>
          <a:xfrm>
            <a:off x="610350" y="1524000"/>
            <a:ext cx="4784400" cy="4989300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V1.0 - Prototype</a:t>
            </a:r>
            <a:endParaRPr sz="2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bc97b47c7d_4_0"/>
          <p:cNvSpPr/>
          <p:nvPr/>
        </p:nvSpPr>
        <p:spPr>
          <a:xfrm>
            <a:off x="609600" y="2334500"/>
            <a:ext cx="4785900" cy="4397700"/>
          </a:xfrm>
          <a:prstGeom prst="round2SameRect">
            <a:avLst>
              <a:gd name="adj1" fmla="val 0"/>
              <a:gd name="adj2" fmla="val 23036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4-Pin Housing Structure: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Fixes IMU in place with minimal movement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Velcro adhesion: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Additional cutouts under IMU for attachment to shank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Cable Connection: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Slotted opening for computer access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Issues with use: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IMU prone to falling out of holding when flipped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6" name="Google Shape;416;g3bc97b47c7d_4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075" y="6189050"/>
            <a:ext cx="1417320" cy="4846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g3bc97b47c7d_4_0"/>
          <p:cNvCxnSpPr/>
          <p:nvPr/>
        </p:nvCxnSpPr>
        <p:spPr>
          <a:xfrm flipH="1">
            <a:off x="10097243" y="4780412"/>
            <a:ext cx="489600" cy="900"/>
          </a:xfrm>
          <a:prstGeom prst="straightConnector1">
            <a:avLst/>
          </a:prstGeom>
          <a:noFill/>
          <a:ln w="36875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8" name="Google Shape;418;g3bc97b47c7d_4_0"/>
          <p:cNvCxnSpPr/>
          <p:nvPr/>
        </p:nvCxnSpPr>
        <p:spPr>
          <a:xfrm rot="10800000" flipH="1">
            <a:off x="7340800" y="4703975"/>
            <a:ext cx="406200" cy="463800"/>
          </a:xfrm>
          <a:prstGeom prst="straightConnector1">
            <a:avLst/>
          </a:prstGeom>
          <a:noFill/>
          <a:ln w="36875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9" name="Google Shape;419;g3bc97b47c7d_4_0"/>
          <p:cNvSpPr txBox="1"/>
          <p:nvPr/>
        </p:nvSpPr>
        <p:spPr>
          <a:xfrm>
            <a:off x="10377075" y="4548512"/>
            <a:ext cx="200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7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Cable Connection</a:t>
            </a:r>
            <a:endParaRPr dirty="0">
              <a:solidFill>
                <a:srgbClr val="27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" name="Google Shape;420;g3bc97b47c7d_4_0"/>
          <p:cNvSpPr txBox="1"/>
          <p:nvPr/>
        </p:nvSpPr>
        <p:spPr>
          <a:xfrm>
            <a:off x="6173974" y="5190371"/>
            <a:ext cx="200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7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4-Pin Housing</a:t>
            </a:r>
            <a:endParaRPr dirty="0">
              <a:solidFill>
                <a:srgbClr val="27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c33efc1445_0_1"/>
          <p:cNvSpPr txBox="1">
            <a:spLocks noGrp="1"/>
          </p:cNvSpPr>
          <p:nvPr>
            <p:ph type="title"/>
          </p:nvPr>
        </p:nvSpPr>
        <p:spPr>
          <a:xfrm>
            <a:off x="609600" y="607342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Design Iterations - Shank Hub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g3c33efc1445_0_1"/>
          <p:cNvSpPr/>
          <p:nvPr/>
        </p:nvSpPr>
        <p:spPr>
          <a:xfrm>
            <a:off x="610350" y="1524000"/>
            <a:ext cx="4784400" cy="4989300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Through Pin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g3c33efc1445_0_1"/>
          <p:cNvSpPr/>
          <p:nvPr/>
        </p:nvSpPr>
        <p:spPr>
          <a:xfrm>
            <a:off x="609600" y="2334500"/>
            <a:ext cx="4785900" cy="4397700"/>
          </a:xfrm>
          <a:prstGeom prst="round2SameRect">
            <a:avLst>
              <a:gd name="adj1" fmla="val 0"/>
              <a:gd name="adj2" fmla="val 23036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 Design:</a:t>
            </a:r>
            <a:r>
              <a:rPr lang="en-US" sz="20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hole lid setup generated to enclose IMU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 of Velcro: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Velcro strap dimensions expanded for ease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 adhesion: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Lid divots did not fit within bounds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Peg system interference: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pegs had impaired stability due to cut through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IMU Removal: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IMU difficult to extract from holding for maintenance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9" name="Google Shape;429;g3c33efc1445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4036" y="1524000"/>
            <a:ext cx="4521144" cy="49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c33efc1445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075" y="6189050"/>
            <a:ext cx="1417320" cy="4846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g3c33efc1445_0_1"/>
          <p:cNvCxnSpPr>
            <a:cxnSpLocks/>
          </p:cNvCxnSpPr>
          <p:nvPr/>
        </p:nvCxnSpPr>
        <p:spPr>
          <a:xfrm>
            <a:off x="7232400" y="2365200"/>
            <a:ext cx="796275" cy="682600"/>
          </a:xfrm>
          <a:prstGeom prst="straightConnector1">
            <a:avLst/>
          </a:prstGeom>
          <a:noFill/>
          <a:ln w="36875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2" name="Google Shape;432;g3c33efc1445_0_1"/>
          <p:cNvSpPr txBox="1"/>
          <p:nvPr/>
        </p:nvSpPr>
        <p:spPr>
          <a:xfrm>
            <a:off x="5818265" y="2004428"/>
            <a:ext cx="200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7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Pin Design</a:t>
            </a:r>
            <a:endParaRPr dirty="0">
              <a:solidFill>
                <a:srgbClr val="27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3" name="Google Shape;433;g3c33efc1445_0_1"/>
          <p:cNvCxnSpPr>
            <a:cxnSpLocks/>
          </p:cNvCxnSpPr>
          <p:nvPr/>
        </p:nvCxnSpPr>
        <p:spPr>
          <a:xfrm>
            <a:off x="7232400" y="2365200"/>
            <a:ext cx="1464775" cy="224100"/>
          </a:xfrm>
          <a:prstGeom prst="straightConnector1">
            <a:avLst/>
          </a:prstGeom>
          <a:noFill/>
          <a:ln w="36875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33efc1445_0_87"/>
          <p:cNvSpPr txBox="1">
            <a:spLocks noGrp="1"/>
          </p:cNvSpPr>
          <p:nvPr>
            <p:ph type="title"/>
          </p:nvPr>
        </p:nvSpPr>
        <p:spPr>
          <a:xfrm>
            <a:off x="609600" y="598051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Design Iterations - Shank Hub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g3c33efc1445_0_87"/>
          <p:cNvSpPr/>
          <p:nvPr/>
        </p:nvSpPr>
        <p:spPr>
          <a:xfrm>
            <a:off x="610350" y="1524000"/>
            <a:ext cx="4784400" cy="4989300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V2.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Structural Stability </a:t>
            </a:r>
            <a:endParaRPr sz="2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g3c33efc1445_0_87"/>
          <p:cNvSpPr/>
          <p:nvPr/>
        </p:nvSpPr>
        <p:spPr>
          <a:xfrm>
            <a:off x="609600" y="2334500"/>
            <a:ext cx="4785900" cy="4397700"/>
          </a:xfrm>
          <a:prstGeom prst="round2SameRect">
            <a:avLst>
              <a:gd name="adj1" fmla="val 0"/>
              <a:gd name="adj2" fmla="val 23036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 adhesion: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Removed through hole, resized extrusions 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Velcro relocation: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Extended base to remove strap and peg interference 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Removal: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IMU removal aid added for quality of life 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US" sz="2000" b="1" i="0" u="sng" strike="noStrike" cap="non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Cable cutout: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Expanded cutout for cable for more freedom of movement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2" name="Google Shape;442;g3c33efc1445_0_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5225" y="1523999"/>
            <a:ext cx="4367000" cy="47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c33efc1445_0_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075" y="6189050"/>
            <a:ext cx="1417320" cy="4846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g3c33efc1445_0_87"/>
          <p:cNvCxnSpPr/>
          <p:nvPr/>
        </p:nvCxnSpPr>
        <p:spPr>
          <a:xfrm flipH="1">
            <a:off x="10612975" y="2505375"/>
            <a:ext cx="623700" cy="1524000"/>
          </a:xfrm>
          <a:prstGeom prst="straightConnector1">
            <a:avLst/>
          </a:prstGeom>
          <a:noFill/>
          <a:ln w="36875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5" name="Google Shape;445;g3c33efc1445_0_87"/>
          <p:cNvCxnSpPr>
            <a:stCxn id="446" idx="0"/>
          </p:cNvCxnSpPr>
          <p:nvPr/>
        </p:nvCxnSpPr>
        <p:spPr>
          <a:xfrm rot="10800000">
            <a:off x="9213115" y="3890403"/>
            <a:ext cx="677100" cy="1818000"/>
          </a:xfrm>
          <a:prstGeom prst="straightConnector1">
            <a:avLst/>
          </a:prstGeom>
          <a:noFill/>
          <a:ln w="36875" cap="flat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6" name="Google Shape;446;g3c33efc1445_0_87"/>
          <p:cNvSpPr txBox="1"/>
          <p:nvPr/>
        </p:nvSpPr>
        <p:spPr>
          <a:xfrm>
            <a:off x="8888215" y="5708403"/>
            <a:ext cx="200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7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IMU Removal</a:t>
            </a:r>
            <a:endParaRPr dirty="0">
              <a:solidFill>
                <a:srgbClr val="27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7" name="Google Shape;447;g3c33efc1445_0_87"/>
          <p:cNvSpPr txBox="1"/>
          <p:nvPr/>
        </p:nvSpPr>
        <p:spPr>
          <a:xfrm>
            <a:off x="10377087" y="2156200"/>
            <a:ext cx="1757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7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Velcro Relocation</a:t>
            </a:r>
            <a:endParaRPr dirty="0">
              <a:solidFill>
                <a:srgbClr val="27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f6ac30de1_0_20"/>
          <p:cNvSpPr txBox="1">
            <a:spLocks noGrp="1"/>
          </p:cNvSpPr>
          <p:nvPr>
            <p:ph type="title"/>
          </p:nvPr>
        </p:nvSpPr>
        <p:spPr>
          <a:xfrm>
            <a:off x="609600" y="619023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Acquisition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g3af6ac30de1_0_20"/>
          <p:cNvSpPr txBox="1"/>
          <p:nvPr/>
        </p:nvSpPr>
        <p:spPr>
          <a:xfrm>
            <a:off x="3521650" y="1442675"/>
            <a:ext cx="8155200" cy="16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Setup:</a:t>
            </a:r>
            <a:endParaRPr sz="2400" b="1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Shin IMU: External BNO085 (drift-free 9-DOF fusion)</a:t>
            </a:r>
            <a:endParaRPr sz="2400" b="0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g3af6ac30de1_0_20"/>
          <p:cNvSpPr txBox="1"/>
          <p:nvPr/>
        </p:nvSpPr>
        <p:spPr>
          <a:xfrm>
            <a:off x="3521650" y="2507503"/>
            <a:ext cx="83163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 Data Collection: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shin IMU outputs time-stamped yaw, pitch, and roll orientation data for analysis</a:t>
            </a:r>
            <a:endParaRPr sz="2400" b="0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g3af6ac30de1_0_20"/>
          <p:cNvSpPr txBox="1"/>
          <p:nvPr/>
        </p:nvSpPr>
        <p:spPr>
          <a:xfrm>
            <a:off x="3521650" y="3918900"/>
            <a:ext cx="83163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Protocol:</a:t>
            </a:r>
            <a:endParaRPr sz="2400" b="1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MATLAB receives time-stamped roll orientation data, records a neutral baseline, captures peak ankle flexion, and computes ankle flexion angle from relative orientation changes</a:t>
            </a:r>
            <a:endParaRPr sz="2400" b="0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7" name="Google Shape;457;g3af6ac30de1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125" y="1395575"/>
            <a:ext cx="2143125" cy="1918923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BABD62-79EF-CAFE-D510-8FCAE1DCC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165" y="3421753"/>
            <a:ext cx="1219370" cy="3238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969A2F-EEF7-AC84-6744-838CFD762E19}"/>
              </a:ext>
            </a:extLst>
          </p:cNvPr>
          <p:cNvSpPr txBox="1"/>
          <p:nvPr/>
        </p:nvSpPr>
        <p:spPr>
          <a:xfrm>
            <a:off x="1028125" y="3835510"/>
            <a:ext cx="680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FA4C9-2333-8F98-0CEF-BA138806D5D9}"/>
              </a:ext>
            </a:extLst>
          </p:cNvPr>
          <p:cNvSpPr txBox="1"/>
          <p:nvPr/>
        </p:nvSpPr>
        <p:spPr>
          <a:xfrm>
            <a:off x="2456315" y="5665304"/>
            <a:ext cx="680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MCU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76DC5C-B30F-5CBF-6162-C7F652A22BE6}"/>
              </a:ext>
            </a:extLst>
          </p:cNvPr>
          <p:cNvCxnSpPr>
            <a:cxnSpLocks/>
          </p:cNvCxnSpPr>
          <p:nvPr/>
        </p:nvCxnSpPr>
        <p:spPr>
          <a:xfrm>
            <a:off x="1508360" y="4047810"/>
            <a:ext cx="345840" cy="148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E9873B-6D9C-9742-7DDA-33110A8AFFDC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993015" y="5819193"/>
            <a:ext cx="463300" cy="4197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684B3353-126C-E32C-CA11-65445DEAB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850" y="1419123"/>
            <a:ext cx="8498502" cy="4896860"/>
          </a:xfrm>
          <a:prstGeom prst="rect">
            <a:avLst/>
          </a:prstGeom>
        </p:spPr>
      </p:pic>
      <p:sp>
        <p:nvSpPr>
          <p:cNvPr id="463" name="Google Shape;463;g3af6ac30de1_0_20"/>
          <p:cNvSpPr/>
          <p:nvPr/>
        </p:nvSpPr>
        <p:spPr>
          <a:xfrm>
            <a:off x="6960725" y="4506046"/>
            <a:ext cx="1756555" cy="1241354"/>
          </a:xfrm>
          <a:prstGeom prst="rect">
            <a:avLst/>
          </a:prstGeom>
          <a:solidFill>
            <a:srgbClr val="FFFF00">
              <a:alpha val="54000"/>
            </a:srgb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62" name="Google Shape;462;g3af6ac30de1_0_20"/>
          <p:cNvSpPr/>
          <p:nvPr/>
        </p:nvSpPr>
        <p:spPr>
          <a:xfrm>
            <a:off x="4755050" y="2152160"/>
            <a:ext cx="1621366" cy="429300"/>
          </a:xfrm>
          <a:prstGeom prst="rect">
            <a:avLst/>
          </a:prstGeom>
          <a:solidFill>
            <a:schemeClr val="accent1">
              <a:lumMod val="75000"/>
              <a:alpha val="37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60" name="Google Shape;460;g3af6ac30de1_0_20"/>
          <p:cNvSpPr/>
          <p:nvPr/>
        </p:nvSpPr>
        <p:spPr>
          <a:xfrm>
            <a:off x="2106849" y="3716473"/>
            <a:ext cx="2121870" cy="297600"/>
          </a:xfrm>
          <a:prstGeom prst="rect">
            <a:avLst/>
          </a:prstGeom>
          <a:noFill/>
          <a:ln w="38100" cap="flat" cmpd="sng">
            <a:solidFill>
              <a:srgbClr val="C27B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61" name="Google Shape;461;g3af6ac30de1_0_20"/>
          <p:cNvSpPr/>
          <p:nvPr/>
        </p:nvSpPr>
        <p:spPr>
          <a:xfrm>
            <a:off x="2115351" y="4109518"/>
            <a:ext cx="2104865" cy="297600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2d94d9c15_2_0"/>
          <p:cNvSpPr txBox="1">
            <a:spLocks noGrp="1"/>
          </p:cNvSpPr>
          <p:nvPr>
            <p:ph type="title"/>
          </p:nvPr>
        </p:nvSpPr>
        <p:spPr>
          <a:xfrm>
            <a:off x="609600" y="623155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Test Methods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g3c2d94d9c15_2_0"/>
          <p:cNvSpPr txBox="1"/>
          <p:nvPr/>
        </p:nvSpPr>
        <p:spPr>
          <a:xfrm>
            <a:off x="609600" y="2029780"/>
            <a:ext cx="5688300" cy="47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Heel cuff and shank hub are placed on the participant</a:t>
            </a: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standing angle is captured</a:t>
            </a:r>
            <a:endParaRPr lang="en-US"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 leans forward over foot as far as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far as possible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heel lifting up</a:t>
            </a:r>
            <a:endParaRPr lang="en-US"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five times</a:t>
            </a:r>
            <a:endParaRPr lang="en-US"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process with other foot</a:t>
            </a:r>
            <a:endParaRPr lang="en-US" sz="2300" b="1" i="0" u="none" strike="noStrike" cap="none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1" name="Google Shape;471;g3c2d94d9c15_2_0"/>
          <p:cNvPicPr preferRelativeResize="0"/>
          <p:nvPr/>
        </p:nvPicPr>
        <p:blipFill rotWithShape="1">
          <a:blip r:embed="rId3">
            <a:alphaModFix/>
          </a:blip>
          <a:srcRect l="29498" t="12377" b="22655"/>
          <a:stretch/>
        </p:blipFill>
        <p:spPr>
          <a:xfrm>
            <a:off x="9222475" y="2029787"/>
            <a:ext cx="2533200" cy="404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472" name="Google Shape;472;g3c2d94d9c15_2_0"/>
          <p:cNvPicPr preferRelativeResize="0"/>
          <p:nvPr/>
        </p:nvPicPr>
        <p:blipFill rotWithShape="1">
          <a:blip r:embed="rId4">
            <a:alphaModFix/>
          </a:blip>
          <a:srcRect l="22307" t="12384" r="9517" b="23616"/>
          <a:stretch/>
        </p:blipFill>
        <p:spPr>
          <a:xfrm>
            <a:off x="6418380" y="2029780"/>
            <a:ext cx="2449200" cy="404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473" name="Google Shape;473;g3c2d94d9c15_2_0"/>
          <p:cNvSpPr txBox="1"/>
          <p:nvPr/>
        </p:nvSpPr>
        <p:spPr>
          <a:xfrm>
            <a:off x="609600" y="1354950"/>
            <a:ext cx="115230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n=15 Each</a:t>
            </a:r>
            <a:r>
              <a:rPr lang="en-US" sz="2400" b="1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➢ College Men     ➢ College Women     ➢ Men 55+     ➢ Women 55+</a:t>
            </a:r>
            <a:endParaRPr sz="2400" b="1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g3c2d94d9c15_2_0"/>
          <p:cNvSpPr txBox="1"/>
          <p:nvPr/>
        </p:nvSpPr>
        <p:spPr>
          <a:xfrm>
            <a:off x="6530600" y="6172200"/>
            <a:ext cx="2337000" cy="561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7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★IRB Approved</a:t>
            </a:r>
            <a:endParaRPr sz="2400" dirty="0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4d3f88340_0_0"/>
          <p:cNvSpPr txBox="1"/>
          <p:nvPr/>
        </p:nvSpPr>
        <p:spPr>
          <a:xfrm>
            <a:off x="667025" y="1348500"/>
            <a:ext cx="11048100" cy="48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from device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of Motion of left and right ankles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Ankle loaded dorsiflexion was calculated using the roll output from the BNO085 IMU positioned on the shank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Hypotheses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in ROM between left and right ankles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in ROM between sample groups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Repeatability analysis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repeatability was evaluated using the standard deviation (SD) of the five trials collected for each ankle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Limb symmetry analysis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Limb symmetry was assessed by comparing the mean ROM values between the right and left ankles of each participant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g3d4d3f88340_0_0"/>
          <p:cNvSpPr txBox="1">
            <a:spLocks noGrp="1"/>
          </p:cNvSpPr>
          <p:nvPr>
            <p:ph type="title"/>
          </p:nvPr>
        </p:nvSpPr>
        <p:spPr>
          <a:xfrm>
            <a:off x="609600" y="54840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Data Analysis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4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4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4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4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4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4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4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4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4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4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4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4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4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4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4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cd4918c9bf_1_14"/>
          <p:cNvSpPr txBox="1">
            <a:spLocks noGrp="1"/>
          </p:cNvSpPr>
          <p:nvPr>
            <p:ph type="title"/>
          </p:nvPr>
        </p:nvSpPr>
        <p:spPr>
          <a:xfrm>
            <a:off x="609600" y="59695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Results - Ankle Dorsiflexion ROM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g3cd4918c9bf_1_14"/>
          <p:cNvSpPr txBox="1"/>
          <p:nvPr/>
        </p:nvSpPr>
        <p:spPr>
          <a:xfrm>
            <a:off x="1848300" y="6172208"/>
            <a:ext cx="8512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Boxplot of ankle dorsiflexion averages per each foot in each individual sample group</a:t>
            </a:r>
            <a:endParaRPr sz="1900" b="0" i="0" u="none" strike="noStrike" cap="none">
              <a:solidFill>
                <a:srgbClr val="27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4CAFE1EE-0859-2431-7EDA-BA8F49779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52" y="1385706"/>
            <a:ext cx="8871186" cy="4827295"/>
          </a:xfrm>
          <a:prstGeom prst="rect">
            <a:avLst/>
          </a:prstGeom>
        </p:spPr>
      </p:pic>
      <p:cxnSp>
        <p:nvCxnSpPr>
          <p:cNvPr id="2" name="Google Shape;263;g3cd96071cc1_3_0">
            <a:extLst>
              <a:ext uri="{FF2B5EF4-FFF2-40B4-BE49-F238E27FC236}">
                <a16:creationId xmlns:a16="http://schemas.microsoft.com/office/drawing/2014/main" id="{C803591D-1299-762F-88DE-15D76FD07C4B}"/>
              </a:ext>
            </a:extLst>
          </p:cNvPr>
          <p:cNvCxnSpPr>
            <a:cxnSpLocks/>
          </p:cNvCxnSpPr>
          <p:nvPr/>
        </p:nvCxnSpPr>
        <p:spPr>
          <a:xfrm flipH="1">
            <a:off x="2982800" y="3657600"/>
            <a:ext cx="301938" cy="474162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" name="Google Shape;263;g3cd96071cc1_3_0">
            <a:extLst>
              <a:ext uri="{FF2B5EF4-FFF2-40B4-BE49-F238E27FC236}">
                <a16:creationId xmlns:a16="http://schemas.microsoft.com/office/drawing/2014/main" id="{273ABB88-93AA-35E8-731F-3ECF7529EBCE}"/>
              </a:ext>
            </a:extLst>
          </p:cNvPr>
          <p:cNvCxnSpPr>
            <a:cxnSpLocks/>
          </p:cNvCxnSpPr>
          <p:nvPr/>
        </p:nvCxnSpPr>
        <p:spPr>
          <a:xfrm>
            <a:off x="3666477" y="2814222"/>
            <a:ext cx="559293" cy="363984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5a61684b6_1_20"/>
          <p:cNvSpPr txBox="1">
            <a:spLocks noGrp="1"/>
          </p:cNvSpPr>
          <p:nvPr>
            <p:ph type="body" idx="1"/>
          </p:nvPr>
        </p:nvSpPr>
        <p:spPr>
          <a:xfrm>
            <a:off x="6430675" y="1511272"/>
            <a:ext cx="5324100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u="sng" dirty="0">
                <a:latin typeface="Times New Roman"/>
                <a:ea typeface="Times New Roman"/>
                <a:cs typeface="Times New Roman"/>
                <a:sym typeface="Times New Roman"/>
              </a:rPr>
              <a:t>Hypothesis 2: Differences in Dorsiflexion ROM</a:t>
            </a:r>
            <a:endParaRPr sz="20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Null: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ROM between any of the four populations is not statistically significant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Statistical Significance: p &lt; 0.00833 for each pairing of groups other than Men 55+ and Women 55+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Conclusion: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Reject the Null as statistical differences between groups is found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g395a61684b6_1_20"/>
          <p:cNvSpPr txBox="1">
            <a:spLocks noGrp="1"/>
          </p:cNvSpPr>
          <p:nvPr>
            <p:ph type="title"/>
          </p:nvPr>
        </p:nvSpPr>
        <p:spPr>
          <a:xfrm>
            <a:off x="609600" y="603933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Discussion and Results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g395a61684b6_1_20"/>
          <p:cNvSpPr txBox="1">
            <a:spLocks noGrp="1"/>
          </p:cNvSpPr>
          <p:nvPr>
            <p:ph type="body" idx="1"/>
          </p:nvPr>
        </p:nvSpPr>
        <p:spPr>
          <a:xfrm>
            <a:off x="891275" y="1511272"/>
            <a:ext cx="47442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u="sng" dirty="0">
                <a:latin typeface="Times New Roman"/>
                <a:ea typeface="Times New Roman"/>
                <a:cs typeface="Times New Roman"/>
                <a:sym typeface="Times New Roman"/>
              </a:rPr>
              <a:t>Hypothesis 1: Limb Symmetry</a:t>
            </a:r>
            <a:endParaRPr sz="20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Null: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ROM between left &amp; right ankles is not statistically significant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All groups: p &gt; 0.00833 (no significance)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No significant side-to-side differences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Conclusion: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Fail to reject the Null as the ROM between limbs is not statistically significant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" grpId="0" uiExpand="1" build="p"/>
      <p:bldP spid="49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4d3f88340_0_9"/>
          <p:cNvSpPr txBox="1"/>
          <p:nvPr/>
        </p:nvSpPr>
        <p:spPr>
          <a:xfrm>
            <a:off x="609600" y="1217872"/>
            <a:ext cx="7492237" cy="484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400"/>
              </a:spcBef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Reflections</a:t>
            </a:r>
          </a:p>
          <a:p>
            <a:pPr marL="457200" lvl="0" indent="-355600">
              <a:lnSpc>
                <a:spcPct val="115000"/>
              </a:lnSpc>
              <a:spcBef>
                <a:spcPts val="400"/>
              </a:spcBef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 all design requirements set</a:t>
            </a:r>
            <a:endParaRPr lang="en-US"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and Sustainability Impacts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materials are TPU and PLA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device is reusable and durable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Impacts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cost of the device is around $100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Regulations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Follows standard ISO and FDA regulations for medical devices </a:t>
            </a:r>
            <a:endParaRPr lang="en-US"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15000"/>
              </a:lnSpc>
              <a:spcBef>
                <a:spcPts val="400"/>
              </a:spcBef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Societal and Global Impacts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therapists can use this setup to replace goniometers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applied to other sports</a:t>
            </a:r>
          </a:p>
        </p:txBody>
      </p:sp>
      <p:sp>
        <p:nvSpPr>
          <p:cNvPr id="504" name="Google Shape;504;g3d4d3f88340_0_9"/>
          <p:cNvSpPr txBox="1">
            <a:spLocks noGrp="1"/>
          </p:cNvSpPr>
          <p:nvPr>
            <p:ph type="title"/>
          </p:nvPr>
        </p:nvSpPr>
        <p:spPr>
          <a:xfrm>
            <a:off x="609600" y="643262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lvl="0" indent="0" algn="l" rtl="0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</a:p>
        </p:txBody>
      </p:sp>
      <p:pic>
        <p:nvPicPr>
          <p:cNvPr id="1026" name="Picture 2" descr="MEASUREMENT of RANGE of MOTION of the ANKLE and FOOT | Musculoskeletal Key">
            <a:extLst>
              <a:ext uri="{FF2B5EF4-FFF2-40B4-BE49-F238E27FC236}">
                <a16:creationId xmlns:a16="http://schemas.microsoft.com/office/drawing/2014/main" id="{7D2D0FF5-7EE8-0F06-97DF-D1F5141AE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098" y="1348500"/>
            <a:ext cx="4138809" cy="226463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Basketball Ankle Braces | Built for Performance | Ultra Ankle | Ultra Ankle">
            <a:extLst>
              <a:ext uri="{FF2B5EF4-FFF2-40B4-BE49-F238E27FC236}">
                <a16:creationId xmlns:a16="http://schemas.microsoft.com/office/drawing/2014/main" id="{1AF26F16-6D74-0524-C5B7-3A01D8C1E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91" r="17995"/>
          <a:stretch>
            <a:fillRect/>
          </a:stretch>
        </p:blipFill>
        <p:spPr bwMode="auto">
          <a:xfrm>
            <a:off x="8231829" y="3728089"/>
            <a:ext cx="2773345" cy="239671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2"/>
          <p:cNvSpPr txBox="1"/>
          <p:nvPr/>
        </p:nvSpPr>
        <p:spPr>
          <a:xfrm>
            <a:off x="9175262" y="65961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 txBox="1"/>
          <p:nvPr/>
        </p:nvSpPr>
        <p:spPr>
          <a:xfrm>
            <a:off x="723900" y="2399500"/>
            <a:ext cx="108975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SzPts val="10000"/>
            </a:pPr>
            <a:r>
              <a:rPr lang="en-US" sz="6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 thanks to our testing participants and Professor Ji!</a:t>
            </a:r>
          </a:p>
        </p:txBody>
      </p:sp>
      <p:sp>
        <p:nvSpPr>
          <p:cNvPr id="519" name="Google Shape;519;p22"/>
          <p:cNvSpPr txBox="1"/>
          <p:nvPr/>
        </p:nvSpPr>
        <p:spPr>
          <a:xfrm>
            <a:off x="4900500" y="4197400"/>
            <a:ext cx="25443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questions?</a:t>
            </a:r>
            <a:endParaRPr sz="3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I-White">
  <a:themeElements>
    <a:clrScheme name="Custom 56">
      <a:dk1>
        <a:srgbClr val="000000"/>
      </a:dk1>
      <a:lt1>
        <a:srgbClr val="FFFFFF"/>
      </a:lt1>
      <a:dk2>
        <a:srgbClr val="6D6D6D"/>
      </a:dk2>
      <a:lt2>
        <a:srgbClr val="AB192D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I-White">
  <a:themeElements>
    <a:clrScheme name="Custom 56">
      <a:dk1>
        <a:srgbClr val="000000"/>
      </a:dk1>
      <a:lt1>
        <a:srgbClr val="FFFFFF"/>
      </a:lt1>
      <a:dk2>
        <a:srgbClr val="6D6D6D"/>
      </a:dk2>
      <a:lt2>
        <a:srgbClr val="AB192D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89c76f5-ca15-41f9-884b-55ec15a0672a}" enabled="0" method="" siteId="{589c76f5-ca15-41f9-884b-55ec15a067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10383</TotalTime>
  <Words>1366</Words>
  <Application>Microsoft Office PowerPoint</Application>
  <PresentationFormat>Widescreen</PresentationFormat>
  <Paragraphs>248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WPI-White</vt:lpstr>
      <vt:lpstr>WPI-White</vt:lpstr>
      <vt:lpstr>Designing a Device for Monitoring Ankle Mechanics in Pickleball and Beyond</vt:lpstr>
      <vt:lpstr>Pickleball - Introduction</vt:lpstr>
      <vt:lpstr>Client Statement</vt:lpstr>
      <vt:lpstr>PowerPoint Presentation</vt:lpstr>
      <vt:lpstr>Potential 2 - IMU System Setup</vt:lpstr>
      <vt:lpstr>Sensor Progression</vt:lpstr>
      <vt:lpstr>Final System Setup</vt:lpstr>
      <vt:lpstr>Design Iterations: Heel Cuff</vt:lpstr>
      <vt:lpstr>Design Iterations: Heel Cuff</vt:lpstr>
      <vt:lpstr>Design Iterations - Heel Cuff</vt:lpstr>
      <vt:lpstr>Design Iterations - Heel Cuff</vt:lpstr>
      <vt:lpstr>Design Iterations - Heel Cuff</vt:lpstr>
      <vt:lpstr>Design Iterations: Shank Hub</vt:lpstr>
      <vt:lpstr>Design Iterations: Shank Hub</vt:lpstr>
      <vt:lpstr>Design Iterations - Shank Hub</vt:lpstr>
      <vt:lpstr>Design Iterations - Shank Hub</vt:lpstr>
      <vt:lpstr>Design Iterations - Shank Hub</vt:lpstr>
      <vt:lpstr>Data Acquisition </vt:lpstr>
      <vt:lpstr>Test Methods</vt:lpstr>
      <vt:lpstr>Data Analysis </vt:lpstr>
      <vt:lpstr>Results - Ankle Dorsiflexion ROM</vt:lpstr>
      <vt:lpstr>Discussion and Results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Siegel, Kyle</dc:creator>
  <cp:lastModifiedBy>Durling, Julia</cp:lastModifiedBy>
  <cp:revision>2</cp:revision>
  <dcterms:created xsi:type="dcterms:W3CDTF">2023-02-08T18:44:35Z</dcterms:created>
  <dcterms:modified xsi:type="dcterms:W3CDTF">2026-08-22T14:17:36Z</dcterms:modified>
</cp:coreProperties>
</file>